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3" d="100"/>
          <a:sy n="73" d="100"/>
        </p:scale>
        <p:origin x="1042"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64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ThreatNexus as an AI-powered SOC platform. Emphasise the core outcome: instead of forcing analysts to scan thousands of alerts, ThreatNexus ranks the alerts that deserve attention and prepares evidence for the investigation.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 problem as an attention problem, not simply a detection problem. A SOC can have strong security tools and still struggle because alert volume overwhelms human attention. Static severity alone does not provide enough context to prioritise correctly.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left to right through the pipeline. ThreatNexus first standardises incoming alerts, extracts IOCs, adds threat intelligence and asset context, then calculates risk and correlates related alerts. The Granite-powered AI layer turns the evidence into a plain-English explanation and investigation steps.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score is transparent and context-aware. IOC reputation has the largest weight, followed by asset criticality and source severity. Use the suspicious-login example: the same event is more urgent on a domain controller than on a low-criticality lobby camera.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why correlation matters: an attacker can generate multiple alerts across different tools. ThreatNexus groups alerts when they share IOCs, the same affected asset, or occur within the four-hour correlation window. The result is an attack story rather than four disconnected notifications.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as the product demo view. Point out the prioritised queue, the risk distribution, IOC and asset context, and the AI explanation with four investigation recommendations. The workflow is deliberately short: select the critical alert, review evidence, follow the steps, and take an analyst action.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the AI boundary clearly. ThreatNexus sends alert metadata, IOC evidence, asset context and risk components to IBM watsonx.ai with Granite 3 8B Instruct. Granite generates a plain-English explanation and four investigation steps, which are stored with the alert and displayed to the analyst. The fallback template keeps the demonstration functional when credentials are unavailable.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on the three outcomes: prioritise, explain, act. ThreatNexus helps analysts focus first on the alerts with the strongest evidence and business impact, understand why the alert matters, and move directly into investigation and action. Thank the judges and introduce the team.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01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 name="Rounded Rectangle 2"/>
          <p:cNvSpPr/>
          <p:nvPr/>
        </p:nvSpPr>
        <p:spPr>
          <a:xfrm>
            <a:off x="503446" y="361188"/>
            <a:ext cx="2651760" cy="466344"/>
          </a:xfrm>
          <a:prstGeom prst="roundRect">
            <a:avLst/>
          </a:prstGeom>
          <a:solidFill>
            <a:srgbClr val="101B2D"/>
          </a:solidFill>
          <a:ln w="12700">
            <a:solidFill>
              <a:srgbClr val="29D3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 name="TextBox 3"/>
          <p:cNvSpPr txBox="1"/>
          <p:nvPr/>
        </p:nvSpPr>
        <p:spPr>
          <a:xfrm>
            <a:off x="640080" y="516636"/>
            <a:ext cx="2271286" cy="214884"/>
          </a:xfrm>
          <a:prstGeom prst="rect">
            <a:avLst/>
          </a:prstGeom>
          <a:noFill/>
        </p:spPr>
        <p:txBody>
          <a:bodyPr wrap="square" lIns="36576" tIns="18288" rIns="36576" bIns="18288" anchor="ctr"/>
          <a:lstStyle/>
          <a:p>
            <a:pPr algn="ctr"/>
            <a:r>
              <a:rPr sz="1300" b="1" dirty="0">
                <a:solidFill>
                  <a:srgbClr val="29D3FF"/>
                </a:solidFill>
                <a:latin typeface="Aptos Mono"/>
              </a:rPr>
              <a:t>AI • SOC • THREAT INTELLIGENCE</a:t>
            </a:r>
          </a:p>
        </p:txBody>
      </p:sp>
      <p:sp>
        <p:nvSpPr>
          <p:cNvPr id="5" name="TextBox 4"/>
          <p:cNvSpPr txBox="1"/>
          <p:nvPr/>
        </p:nvSpPr>
        <p:spPr>
          <a:xfrm>
            <a:off x="640080" y="1234440"/>
            <a:ext cx="5486400" cy="731520"/>
          </a:xfrm>
          <a:prstGeom prst="rect">
            <a:avLst/>
          </a:prstGeom>
          <a:noFill/>
        </p:spPr>
        <p:txBody>
          <a:bodyPr wrap="square" lIns="36576" tIns="18288" rIns="36576" bIns="18288" anchor="t"/>
          <a:lstStyle/>
          <a:p>
            <a:pPr algn="l"/>
            <a:r>
              <a:rPr sz="4200" b="1">
                <a:solidFill>
                  <a:srgbClr val="EFF6FF"/>
                </a:solidFill>
                <a:latin typeface="Aptos"/>
              </a:rPr>
              <a:t>ThreatNexus</a:t>
            </a:r>
          </a:p>
        </p:txBody>
      </p:sp>
      <p:sp>
        <p:nvSpPr>
          <p:cNvPr id="6" name="TextBox 5"/>
          <p:cNvSpPr txBox="1"/>
          <p:nvPr/>
        </p:nvSpPr>
        <p:spPr>
          <a:xfrm>
            <a:off x="658368" y="2029968"/>
            <a:ext cx="5303520" cy="1051560"/>
          </a:xfrm>
          <a:prstGeom prst="rect">
            <a:avLst/>
          </a:prstGeom>
          <a:noFill/>
        </p:spPr>
        <p:txBody>
          <a:bodyPr wrap="square" lIns="36576" tIns="18288" rIns="36576" bIns="18288" anchor="t"/>
          <a:lstStyle/>
          <a:p>
            <a:pPr algn="l"/>
            <a:r>
              <a:rPr sz="2400" b="1">
                <a:solidFill>
                  <a:srgbClr val="29D3FF"/>
                </a:solidFill>
                <a:latin typeface="Aptos"/>
              </a:rPr>
              <a:t>AI-Powered Threat Intelligence
&amp; Alert Prioritisation</a:t>
            </a:r>
          </a:p>
        </p:txBody>
      </p:sp>
      <p:sp>
        <p:nvSpPr>
          <p:cNvPr id="7" name="TextBox 6"/>
          <p:cNvSpPr txBox="1"/>
          <p:nvPr/>
        </p:nvSpPr>
        <p:spPr>
          <a:xfrm>
            <a:off x="658368" y="3273552"/>
            <a:ext cx="5303520" cy="411480"/>
          </a:xfrm>
          <a:prstGeom prst="rect">
            <a:avLst/>
          </a:prstGeom>
          <a:noFill/>
        </p:spPr>
        <p:txBody>
          <a:bodyPr wrap="square" lIns="36576" tIns="18288" rIns="36576" bIns="18288" anchor="t"/>
          <a:lstStyle/>
          <a:p>
            <a:pPr algn="l"/>
            <a:r>
              <a:rPr sz="1600" b="0">
                <a:solidFill>
                  <a:srgbClr val="9CAEC6"/>
                </a:solidFill>
                <a:latin typeface="Aptos"/>
              </a:rPr>
              <a:t>Turn alert overload into an actionable queue.</a:t>
            </a:r>
          </a:p>
        </p:txBody>
      </p:sp>
      <p:sp>
        <p:nvSpPr>
          <p:cNvPr id="8" name="Rounded Rectangle 7"/>
          <p:cNvSpPr/>
          <p:nvPr/>
        </p:nvSpPr>
        <p:spPr>
          <a:xfrm>
            <a:off x="640080" y="4069080"/>
            <a:ext cx="5074920" cy="1417320"/>
          </a:xfrm>
          <a:prstGeom prst="roundRect">
            <a:avLst/>
          </a:prstGeom>
          <a:solidFill>
            <a:srgbClr val="101B2D"/>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 name="TextBox 8"/>
          <p:cNvSpPr txBox="1"/>
          <p:nvPr/>
        </p:nvSpPr>
        <p:spPr>
          <a:xfrm>
            <a:off x="868680" y="4279392"/>
            <a:ext cx="731520" cy="228600"/>
          </a:xfrm>
          <a:prstGeom prst="rect">
            <a:avLst/>
          </a:prstGeom>
          <a:noFill/>
        </p:spPr>
        <p:txBody>
          <a:bodyPr wrap="square" lIns="36576" tIns="18288" rIns="36576" bIns="18288" anchor="t"/>
          <a:lstStyle/>
          <a:p>
            <a:pPr algn="l"/>
            <a:r>
              <a:rPr sz="1300" b="1">
                <a:solidFill>
                  <a:srgbClr val="29D3FF"/>
                </a:solidFill>
                <a:latin typeface="Aptos Mono"/>
              </a:rPr>
              <a:t>TEAM</a:t>
            </a:r>
          </a:p>
        </p:txBody>
      </p:sp>
      <p:sp>
        <p:nvSpPr>
          <p:cNvPr id="10" name="TextBox 9"/>
          <p:cNvSpPr txBox="1"/>
          <p:nvPr/>
        </p:nvSpPr>
        <p:spPr>
          <a:xfrm>
            <a:off x="868680" y="4590288"/>
            <a:ext cx="4526280" cy="246888"/>
          </a:xfrm>
          <a:prstGeom prst="rect">
            <a:avLst/>
          </a:prstGeom>
          <a:noFill/>
        </p:spPr>
        <p:txBody>
          <a:bodyPr wrap="square" lIns="36576" tIns="18288" rIns="36576" bIns="18288" anchor="t"/>
          <a:lstStyle/>
          <a:p>
            <a:pPr algn="l"/>
            <a:r>
              <a:rPr sz="1400" b="1">
                <a:solidFill>
                  <a:srgbClr val="EFF6FF"/>
                </a:solidFill>
                <a:latin typeface="Aptos"/>
              </a:rPr>
              <a:t>Vishwa Bhalodiya  •  Dhruvi Bhanderi</a:t>
            </a:r>
          </a:p>
        </p:txBody>
      </p:sp>
      <p:sp>
        <p:nvSpPr>
          <p:cNvPr id="11" name="TextBox 10"/>
          <p:cNvSpPr txBox="1"/>
          <p:nvPr/>
        </p:nvSpPr>
        <p:spPr>
          <a:xfrm>
            <a:off x="868680" y="4919472"/>
            <a:ext cx="4526280" cy="246888"/>
          </a:xfrm>
          <a:prstGeom prst="rect">
            <a:avLst/>
          </a:prstGeom>
          <a:noFill/>
        </p:spPr>
        <p:txBody>
          <a:bodyPr wrap="square" lIns="36576" tIns="18288" rIns="36576" bIns="18288" anchor="t"/>
          <a:lstStyle/>
          <a:p>
            <a:pPr algn="l"/>
            <a:r>
              <a:rPr sz="1400" b="1">
                <a:solidFill>
                  <a:srgbClr val="EFF6FF"/>
                </a:solidFill>
                <a:latin typeface="Aptos"/>
              </a:rPr>
              <a:t>Diya Macwan  •  Tanish Mahyavanshi</a:t>
            </a:r>
          </a:p>
        </p:txBody>
      </p:sp>
      <p:sp>
        <p:nvSpPr>
          <p:cNvPr id="12" name="Rounded Rectangle 11"/>
          <p:cNvSpPr/>
          <p:nvPr/>
        </p:nvSpPr>
        <p:spPr>
          <a:xfrm>
            <a:off x="4310765" y="5120640"/>
            <a:ext cx="1234440" cy="310896"/>
          </a:xfrm>
          <a:prstGeom prst="roundRect">
            <a:avLst/>
          </a:prstGeom>
          <a:solidFill>
            <a:srgbClr val="142338"/>
          </a:solidFill>
          <a:ln w="12700">
            <a:solidFill>
              <a:srgbClr val="FF994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3" name="TextBox 12"/>
          <p:cNvSpPr txBox="1"/>
          <p:nvPr/>
        </p:nvSpPr>
        <p:spPr>
          <a:xfrm>
            <a:off x="4279392" y="5120640"/>
            <a:ext cx="1280160" cy="310896"/>
          </a:xfrm>
          <a:prstGeom prst="rect">
            <a:avLst/>
          </a:prstGeom>
          <a:noFill/>
        </p:spPr>
        <p:txBody>
          <a:bodyPr wrap="square" lIns="36576" tIns="18288" rIns="36576" bIns="18288" anchor="ctr"/>
          <a:lstStyle/>
          <a:p>
            <a:pPr algn="ctr"/>
            <a:r>
              <a:rPr sz="1300" b="1" dirty="0">
                <a:solidFill>
                  <a:srgbClr val="FF9948"/>
                </a:solidFill>
                <a:latin typeface="Aptos Mono"/>
              </a:rPr>
              <a:t>TRACK  /  AI</a:t>
            </a:r>
          </a:p>
        </p:txBody>
      </p:sp>
      <p:sp>
        <p:nvSpPr>
          <p:cNvPr id="14" name="Rounded Rectangle 13"/>
          <p:cNvSpPr/>
          <p:nvPr/>
        </p:nvSpPr>
        <p:spPr>
          <a:xfrm>
            <a:off x="6126480" y="594360"/>
            <a:ext cx="5440680" cy="5440680"/>
          </a:xfrm>
          <a:prstGeom prst="roundRect">
            <a:avLst/>
          </a:prstGeom>
          <a:solidFill>
            <a:srgbClr val="060C16"/>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 name="TextBox 14"/>
          <p:cNvSpPr txBox="1"/>
          <p:nvPr/>
        </p:nvSpPr>
        <p:spPr>
          <a:xfrm>
            <a:off x="6446520" y="841248"/>
            <a:ext cx="2286000" cy="228600"/>
          </a:xfrm>
          <a:prstGeom prst="rect">
            <a:avLst/>
          </a:prstGeom>
          <a:noFill/>
        </p:spPr>
        <p:txBody>
          <a:bodyPr wrap="square" lIns="36576" tIns="18288" rIns="36576" bIns="18288" anchor="t"/>
          <a:lstStyle/>
          <a:p>
            <a:pPr algn="l"/>
            <a:r>
              <a:rPr sz="1300" b="1">
                <a:solidFill>
                  <a:srgbClr val="29D3FF"/>
                </a:solidFill>
                <a:latin typeface="Aptos Mono"/>
              </a:rPr>
              <a:t>SOC COMMAND VIEW</a:t>
            </a:r>
          </a:p>
        </p:txBody>
      </p:sp>
      <p:sp>
        <p:nvSpPr>
          <p:cNvPr id="16" name="Rounded Rectangle 15"/>
          <p:cNvSpPr/>
          <p:nvPr/>
        </p:nvSpPr>
        <p:spPr>
          <a:xfrm>
            <a:off x="10287000" y="731520"/>
            <a:ext cx="594360" cy="274320"/>
          </a:xfrm>
          <a:prstGeom prst="roundRect">
            <a:avLst/>
          </a:prstGeom>
          <a:solidFill>
            <a:srgbClr val="142338"/>
          </a:solidFill>
          <a:ln w="12700">
            <a:solidFill>
              <a:srgbClr val="3ED38B"/>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 name="TextBox 16"/>
          <p:cNvSpPr txBox="1"/>
          <p:nvPr/>
        </p:nvSpPr>
        <p:spPr>
          <a:xfrm>
            <a:off x="10273284" y="764943"/>
            <a:ext cx="594360" cy="228600"/>
          </a:xfrm>
          <a:prstGeom prst="rect">
            <a:avLst/>
          </a:prstGeom>
          <a:noFill/>
        </p:spPr>
        <p:txBody>
          <a:bodyPr wrap="square" lIns="36576" tIns="18288" rIns="36576" bIns="18288" anchor="ctr"/>
          <a:lstStyle/>
          <a:p>
            <a:pPr algn="ctr"/>
            <a:r>
              <a:rPr sz="1300" b="1">
                <a:solidFill>
                  <a:srgbClr val="3ED38B"/>
                </a:solidFill>
                <a:latin typeface="Aptos Mono"/>
              </a:rPr>
              <a:t>LIVE</a:t>
            </a:r>
          </a:p>
        </p:txBody>
      </p:sp>
      <p:sp>
        <p:nvSpPr>
          <p:cNvPr id="18" name="Rounded Rectangle 17"/>
          <p:cNvSpPr/>
          <p:nvPr/>
        </p:nvSpPr>
        <p:spPr>
          <a:xfrm>
            <a:off x="6446520" y="1234440"/>
            <a:ext cx="1389888" cy="749808"/>
          </a:xfrm>
          <a:prstGeom prst="roundRect">
            <a:avLst/>
          </a:prstGeom>
          <a:solidFill>
            <a:srgbClr val="101B2D"/>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 name="TextBox 18"/>
          <p:cNvSpPr txBox="1"/>
          <p:nvPr/>
        </p:nvSpPr>
        <p:spPr>
          <a:xfrm>
            <a:off x="6556248" y="1389888"/>
            <a:ext cx="1143000" cy="164592"/>
          </a:xfrm>
          <a:prstGeom prst="rect">
            <a:avLst/>
          </a:prstGeom>
          <a:noFill/>
        </p:spPr>
        <p:txBody>
          <a:bodyPr wrap="square" lIns="36576" tIns="18288" rIns="36576" bIns="18288" anchor="t"/>
          <a:lstStyle/>
          <a:p>
            <a:pPr algn="l"/>
            <a:r>
              <a:rPr sz="1300" b="1">
                <a:solidFill>
                  <a:srgbClr val="9CAEC6"/>
                </a:solidFill>
                <a:latin typeface="Aptos Mono"/>
              </a:rPr>
              <a:t>ALERTS</a:t>
            </a:r>
          </a:p>
        </p:txBody>
      </p:sp>
      <p:sp>
        <p:nvSpPr>
          <p:cNvPr id="20" name="TextBox 19"/>
          <p:cNvSpPr txBox="1"/>
          <p:nvPr/>
        </p:nvSpPr>
        <p:spPr>
          <a:xfrm>
            <a:off x="6556248" y="1609344"/>
            <a:ext cx="1143000" cy="256032"/>
          </a:xfrm>
          <a:prstGeom prst="rect">
            <a:avLst/>
          </a:prstGeom>
          <a:noFill/>
        </p:spPr>
        <p:txBody>
          <a:bodyPr wrap="square" lIns="36576" tIns="18288" rIns="36576" bIns="18288" anchor="t"/>
          <a:lstStyle/>
          <a:p>
            <a:pPr algn="l"/>
            <a:r>
              <a:rPr sz="1700" b="1">
                <a:solidFill>
                  <a:srgbClr val="EFF6FF"/>
                </a:solidFill>
                <a:latin typeface="Aptos"/>
              </a:rPr>
              <a:t>10,842</a:t>
            </a:r>
          </a:p>
        </p:txBody>
      </p:sp>
      <p:sp>
        <p:nvSpPr>
          <p:cNvPr id="21" name="Rounded Rectangle 20"/>
          <p:cNvSpPr/>
          <p:nvPr/>
        </p:nvSpPr>
        <p:spPr>
          <a:xfrm>
            <a:off x="8019288" y="1234440"/>
            <a:ext cx="1389888" cy="749808"/>
          </a:xfrm>
          <a:prstGeom prst="roundRect">
            <a:avLst/>
          </a:prstGeom>
          <a:solidFill>
            <a:srgbClr val="101B2D"/>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2" name="TextBox 21"/>
          <p:cNvSpPr txBox="1"/>
          <p:nvPr/>
        </p:nvSpPr>
        <p:spPr>
          <a:xfrm>
            <a:off x="8129015" y="1389888"/>
            <a:ext cx="1143000" cy="164592"/>
          </a:xfrm>
          <a:prstGeom prst="rect">
            <a:avLst/>
          </a:prstGeom>
          <a:noFill/>
        </p:spPr>
        <p:txBody>
          <a:bodyPr wrap="square" lIns="36576" tIns="18288" rIns="36576" bIns="18288" anchor="t"/>
          <a:lstStyle/>
          <a:p>
            <a:pPr algn="l"/>
            <a:r>
              <a:rPr sz="1300" b="1">
                <a:solidFill>
                  <a:srgbClr val="9CAEC6"/>
                </a:solidFill>
                <a:latin typeface="Aptos Mono"/>
              </a:rPr>
              <a:t>CRITICAL</a:t>
            </a:r>
          </a:p>
        </p:txBody>
      </p:sp>
      <p:sp>
        <p:nvSpPr>
          <p:cNvPr id="23" name="TextBox 22"/>
          <p:cNvSpPr txBox="1"/>
          <p:nvPr/>
        </p:nvSpPr>
        <p:spPr>
          <a:xfrm>
            <a:off x="8129015" y="1609344"/>
            <a:ext cx="1143000" cy="256032"/>
          </a:xfrm>
          <a:prstGeom prst="rect">
            <a:avLst/>
          </a:prstGeom>
          <a:noFill/>
        </p:spPr>
        <p:txBody>
          <a:bodyPr wrap="square" lIns="36576" tIns="18288" rIns="36576" bIns="18288" anchor="t"/>
          <a:lstStyle/>
          <a:p>
            <a:pPr algn="l"/>
            <a:r>
              <a:rPr sz="1700" b="1">
                <a:solidFill>
                  <a:srgbClr val="FF4A4A"/>
                </a:solidFill>
                <a:latin typeface="Aptos"/>
              </a:rPr>
              <a:t>17</a:t>
            </a:r>
          </a:p>
        </p:txBody>
      </p:sp>
      <p:sp>
        <p:nvSpPr>
          <p:cNvPr id="24" name="Rounded Rectangle 23"/>
          <p:cNvSpPr/>
          <p:nvPr/>
        </p:nvSpPr>
        <p:spPr>
          <a:xfrm>
            <a:off x="9592056" y="1234440"/>
            <a:ext cx="1389888" cy="749808"/>
          </a:xfrm>
          <a:prstGeom prst="roundRect">
            <a:avLst/>
          </a:prstGeom>
          <a:solidFill>
            <a:srgbClr val="101B2D"/>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5" name="TextBox 24"/>
          <p:cNvSpPr txBox="1"/>
          <p:nvPr/>
        </p:nvSpPr>
        <p:spPr>
          <a:xfrm>
            <a:off x="9701784" y="1389888"/>
            <a:ext cx="1143000" cy="164592"/>
          </a:xfrm>
          <a:prstGeom prst="rect">
            <a:avLst/>
          </a:prstGeom>
          <a:noFill/>
        </p:spPr>
        <p:txBody>
          <a:bodyPr wrap="square" lIns="36576" tIns="18288" rIns="36576" bIns="18288" anchor="t"/>
          <a:lstStyle/>
          <a:p>
            <a:pPr algn="l"/>
            <a:r>
              <a:rPr sz="1300" b="1">
                <a:solidFill>
                  <a:srgbClr val="9CAEC6"/>
                </a:solidFill>
                <a:latin typeface="Aptos Mono"/>
              </a:rPr>
              <a:t>HIGH</a:t>
            </a:r>
          </a:p>
        </p:txBody>
      </p:sp>
      <p:sp>
        <p:nvSpPr>
          <p:cNvPr id="26" name="TextBox 25"/>
          <p:cNvSpPr txBox="1"/>
          <p:nvPr/>
        </p:nvSpPr>
        <p:spPr>
          <a:xfrm>
            <a:off x="9701784" y="1609344"/>
            <a:ext cx="1143000" cy="256032"/>
          </a:xfrm>
          <a:prstGeom prst="rect">
            <a:avLst/>
          </a:prstGeom>
          <a:noFill/>
        </p:spPr>
        <p:txBody>
          <a:bodyPr wrap="square" lIns="36576" tIns="18288" rIns="36576" bIns="18288" anchor="t"/>
          <a:lstStyle/>
          <a:p>
            <a:pPr algn="l"/>
            <a:r>
              <a:rPr sz="1700" b="1">
                <a:solidFill>
                  <a:srgbClr val="FF9948"/>
                </a:solidFill>
                <a:latin typeface="Aptos"/>
              </a:rPr>
              <a:t>64</a:t>
            </a:r>
          </a:p>
        </p:txBody>
      </p:sp>
      <p:sp>
        <p:nvSpPr>
          <p:cNvPr id="27" name="Rounded Rectangle 26"/>
          <p:cNvSpPr/>
          <p:nvPr/>
        </p:nvSpPr>
        <p:spPr>
          <a:xfrm>
            <a:off x="6446520" y="2212848"/>
            <a:ext cx="4773168" cy="2148840"/>
          </a:xfrm>
          <a:prstGeom prst="roundRect">
            <a:avLst/>
          </a:prstGeom>
          <a:solidFill>
            <a:srgbClr val="101B2D"/>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8" name="TextBox 27"/>
          <p:cNvSpPr txBox="1"/>
          <p:nvPr/>
        </p:nvSpPr>
        <p:spPr>
          <a:xfrm>
            <a:off x="6656832" y="2414016"/>
            <a:ext cx="2286000" cy="182880"/>
          </a:xfrm>
          <a:prstGeom prst="rect">
            <a:avLst/>
          </a:prstGeom>
          <a:noFill/>
        </p:spPr>
        <p:txBody>
          <a:bodyPr wrap="square" lIns="36576" tIns="18288" rIns="36576" bIns="18288" anchor="t"/>
          <a:lstStyle/>
          <a:p>
            <a:pPr algn="l"/>
            <a:r>
              <a:rPr sz="1300" b="1">
                <a:solidFill>
                  <a:srgbClr val="EFF6FF"/>
                </a:solidFill>
                <a:latin typeface="Aptos Mono"/>
              </a:rPr>
              <a:t>PRIORITISED QUEUE</a:t>
            </a:r>
          </a:p>
        </p:txBody>
      </p:sp>
      <p:cxnSp>
        <p:nvCxnSpPr>
          <p:cNvPr id="29" name="Connector 28"/>
          <p:cNvCxnSpPr/>
          <p:nvPr/>
        </p:nvCxnSpPr>
        <p:spPr>
          <a:xfrm>
            <a:off x="6656832" y="2688336"/>
            <a:ext cx="4343400" cy="0"/>
          </a:xfrm>
          <a:prstGeom prst="line">
            <a:avLst/>
          </a:prstGeom>
          <a:ln w="12700">
            <a:solidFill>
              <a:srgbClr val="1E3149"/>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6711696" y="2752344"/>
            <a:ext cx="100584" cy="100584"/>
          </a:xfrm>
          <a:prstGeom prst="ellipse">
            <a:avLst/>
          </a:prstGeom>
          <a:solidFill>
            <a:srgbClr val="FF4A4A"/>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1" name="TextBox 30"/>
          <p:cNvSpPr txBox="1"/>
          <p:nvPr/>
        </p:nvSpPr>
        <p:spPr>
          <a:xfrm>
            <a:off x="6912864" y="2688336"/>
            <a:ext cx="2331720" cy="201168"/>
          </a:xfrm>
          <a:prstGeom prst="rect">
            <a:avLst/>
          </a:prstGeom>
          <a:noFill/>
        </p:spPr>
        <p:txBody>
          <a:bodyPr wrap="square" lIns="36576" tIns="18288" rIns="36576" bIns="18288" anchor="t"/>
          <a:lstStyle/>
          <a:p>
            <a:pPr algn="l"/>
            <a:r>
              <a:rPr sz="1300" b="0">
                <a:solidFill>
                  <a:srgbClr val="EFF6FF"/>
                </a:solidFill>
                <a:latin typeface="Aptos"/>
              </a:rPr>
              <a:t>Suspicious PowerShell</a:t>
            </a:r>
          </a:p>
        </p:txBody>
      </p:sp>
      <p:sp>
        <p:nvSpPr>
          <p:cNvPr id="32" name="TextBox 31"/>
          <p:cNvSpPr txBox="1"/>
          <p:nvPr/>
        </p:nvSpPr>
        <p:spPr>
          <a:xfrm>
            <a:off x="9217152" y="2688336"/>
            <a:ext cx="713232" cy="201168"/>
          </a:xfrm>
          <a:prstGeom prst="rect">
            <a:avLst/>
          </a:prstGeom>
          <a:noFill/>
        </p:spPr>
        <p:txBody>
          <a:bodyPr wrap="square" lIns="36576" tIns="18288" rIns="36576" bIns="18288" anchor="t"/>
          <a:lstStyle/>
          <a:p>
            <a:pPr algn="ctr"/>
            <a:r>
              <a:rPr sz="1300" b="1">
                <a:solidFill>
                  <a:srgbClr val="FF4A4A"/>
                </a:solidFill>
                <a:latin typeface="Aptos Mono"/>
              </a:rPr>
              <a:t>CRITICAL</a:t>
            </a:r>
          </a:p>
        </p:txBody>
      </p:sp>
      <p:sp>
        <p:nvSpPr>
          <p:cNvPr id="33" name="TextBox 32"/>
          <p:cNvSpPr txBox="1"/>
          <p:nvPr/>
        </p:nvSpPr>
        <p:spPr>
          <a:xfrm>
            <a:off x="10543032" y="2688336"/>
            <a:ext cx="411480" cy="201168"/>
          </a:xfrm>
          <a:prstGeom prst="rect">
            <a:avLst/>
          </a:prstGeom>
          <a:noFill/>
        </p:spPr>
        <p:txBody>
          <a:bodyPr wrap="square" lIns="36576" tIns="18288" rIns="36576" bIns="18288" anchor="t"/>
          <a:lstStyle/>
          <a:p>
            <a:pPr algn="r"/>
            <a:r>
              <a:rPr sz="1300" b="1">
                <a:solidFill>
                  <a:srgbClr val="EFF6FF"/>
                </a:solidFill>
                <a:latin typeface="Aptos Mono"/>
              </a:rPr>
              <a:t>92</a:t>
            </a:r>
          </a:p>
        </p:txBody>
      </p:sp>
      <p:cxnSp>
        <p:nvCxnSpPr>
          <p:cNvPr id="34" name="Connector 33"/>
          <p:cNvCxnSpPr/>
          <p:nvPr/>
        </p:nvCxnSpPr>
        <p:spPr>
          <a:xfrm>
            <a:off x="6656832" y="3054096"/>
            <a:ext cx="4343400" cy="0"/>
          </a:xfrm>
          <a:prstGeom prst="line">
            <a:avLst/>
          </a:prstGeom>
          <a:ln w="12700">
            <a:solidFill>
              <a:srgbClr val="1E3149"/>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6711696" y="3118104"/>
            <a:ext cx="100584" cy="100584"/>
          </a:xfrm>
          <a:prstGeom prst="ellipse">
            <a:avLst/>
          </a:prstGeom>
          <a:solidFill>
            <a:srgbClr val="FF9948"/>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6" name="TextBox 35"/>
          <p:cNvSpPr txBox="1"/>
          <p:nvPr/>
        </p:nvSpPr>
        <p:spPr>
          <a:xfrm>
            <a:off x="6912864" y="3054096"/>
            <a:ext cx="2331720" cy="201168"/>
          </a:xfrm>
          <a:prstGeom prst="rect">
            <a:avLst/>
          </a:prstGeom>
          <a:noFill/>
        </p:spPr>
        <p:txBody>
          <a:bodyPr wrap="square" lIns="36576" tIns="18288" rIns="36576" bIns="18288" anchor="t"/>
          <a:lstStyle/>
          <a:p>
            <a:pPr algn="l"/>
            <a:r>
              <a:rPr sz="1300" b="0">
                <a:solidFill>
                  <a:srgbClr val="EFF6FF"/>
                </a:solidFill>
                <a:latin typeface="Aptos"/>
              </a:rPr>
              <a:t>Credential anomaly</a:t>
            </a:r>
          </a:p>
        </p:txBody>
      </p:sp>
      <p:sp>
        <p:nvSpPr>
          <p:cNvPr id="37" name="TextBox 36"/>
          <p:cNvSpPr txBox="1"/>
          <p:nvPr/>
        </p:nvSpPr>
        <p:spPr>
          <a:xfrm>
            <a:off x="9217152" y="3054096"/>
            <a:ext cx="713232" cy="201168"/>
          </a:xfrm>
          <a:prstGeom prst="rect">
            <a:avLst/>
          </a:prstGeom>
          <a:noFill/>
        </p:spPr>
        <p:txBody>
          <a:bodyPr wrap="square" lIns="36576" tIns="18288" rIns="36576" bIns="18288" anchor="t"/>
          <a:lstStyle/>
          <a:p>
            <a:pPr algn="ctr"/>
            <a:r>
              <a:rPr sz="1300" b="1">
                <a:solidFill>
                  <a:srgbClr val="FF9948"/>
                </a:solidFill>
                <a:latin typeface="Aptos Mono"/>
              </a:rPr>
              <a:t>HIGH</a:t>
            </a:r>
          </a:p>
        </p:txBody>
      </p:sp>
      <p:sp>
        <p:nvSpPr>
          <p:cNvPr id="38" name="TextBox 37"/>
          <p:cNvSpPr txBox="1"/>
          <p:nvPr/>
        </p:nvSpPr>
        <p:spPr>
          <a:xfrm>
            <a:off x="10543032" y="3054096"/>
            <a:ext cx="411480" cy="201168"/>
          </a:xfrm>
          <a:prstGeom prst="rect">
            <a:avLst/>
          </a:prstGeom>
          <a:noFill/>
        </p:spPr>
        <p:txBody>
          <a:bodyPr wrap="square" lIns="36576" tIns="18288" rIns="36576" bIns="18288" anchor="t"/>
          <a:lstStyle/>
          <a:p>
            <a:pPr algn="r"/>
            <a:r>
              <a:rPr sz="1300" b="1">
                <a:solidFill>
                  <a:srgbClr val="EFF6FF"/>
                </a:solidFill>
                <a:latin typeface="Aptos Mono"/>
              </a:rPr>
              <a:t>78</a:t>
            </a:r>
          </a:p>
        </p:txBody>
      </p:sp>
      <p:cxnSp>
        <p:nvCxnSpPr>
          <p:cNvPr id="39" name="Connector 38"/>
          <p:cNvCxnSpPr/>
          <p:nvPr/>
        </p:nvCxnSpPr>
        <p:spPr>
          <a:xfrm>
            <a:off x="6656832" y="3419856"/>
            <a:ext cx="4343400" cy="0"/>
          </a:xfrm>
          <a:prstGeom prst="line">
            <a:avLst/>
          </a:prstGeom>
          <a:ln w="12700">
            <a:solidFill>
              <a:srgbClr val="1E3149"/>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6711696" y="3483864"/>
            <a:ext cx="100584" cy="100584"/>
          </a:xfrm>
          <a:prstGeom prst="ellipse">
            <a:avLst/>
          </a:prstGeom>
          <a:solidFill>
            <a:srgbClr val="FF9948"/>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1" name="TextBox 40"/>
          <p:cNvSpPr txBox="1"/>
          <p:nvPr/>
        </p:nvSpPr>
        <p:spPr>
          <a:xfrm>
            <a:off x="6912864" y="3419856"/>
            <a:ext cx="2331720" cy="201168"/>
          </a:xfrm>
          <a:prstGeom prst="rect">
            <a:avLst/>
          </a:prstGeom>
          <a:noFill/>
        </p:spPr>
        <p:txBody>
          <a:bodyPr wrap="square" lIns="36576" tIns="18288" rIns="36576" bIns="18288" anchor="t"/>
          <a:lstStyle/>
          <a:p>
            <a:pPr algn="l"/>
            <a:r>
              <a:rPr sz="1300" b="0">
                <a:solidFill>
                  <a:srgbClr val="EFF6FF"/>
                </a:solidFill>
                <a:latin typeface="Aptos"/>
              </a:rPr>
              <a:t>Malware IOC match</a:t>
            </a:r>
          </a:p>
        </p:txBody>
      </p:sp>
      <p:sp>
        <p:nvSpPr>
          <p:cNvPr id="42" name="TextBox 41"/>
          <p:cNvSpPr txBox="1"/>
          <p:nvPr/>
        </p:nvSpPr>
        <p:spPr>
          <a:xfrm>
            <a:off x="9217152" y="3419856"/>
            <a:ext cx="713232" cy="201168"/>
          </a:xfrm>
          <a:prstGeom prst="rect">
            <a:avLst/>
          </a:prstGeom>
          <a:noFill/>
        </p:spPr>
        <p:txBody>
          <a:bodyPr wrap="square" lIns="36576" tIns="18288" rIns="36576" bIns="18288" anchor="t"/>
          <a:lstStyle/>
          <a:p>
            <a:pPr algn="ctr"/>
            <a:r>
              <a:rPr sz="1300" b="1">
                <a:solidFill>
                  <a:srgbClr val="FF9948"/>
                </a:solidFill>
                <a:latin typeface="Aptos Mono"/>
              </a:rPr>
              <a:t>HIGH</a:t>
            </a:r>
          </a:p>
        </p:txBody>
      </p:sp>
      <p:sp>
        <p:nvSpPr>
          <p:cNvPr id="43" name="TextBox 42"/>
          <p:cNvSpPr txBox="1"/>
          <p:nvPr/>
        </p:nvSpPr>
        <p:spPr>
          <a:xfrm>
            <a:off x="10543032" y="3419856"/>
            <a:ext cx="411480" cy="201168"/>
          </a:xfrm>
          <a:prstGeom prst="rect">
            <a:avLst/>
          </a:prstGeom>
          <a:noFill/>
        </p:spPr>
        <p:txBody>
          <a:bodyPr wrap="square" lIns="36576" tIns="18288" rIns="36576" bIns="18288" anchor="t"/>
          <a:lstStyle/>
          <a:p>
            <a:pPr algn="r"/>
            <a:r>
              <a:rPr sz="1300" b="1">
                <a:solidFill>
                  <a:srgbClr val="EFF6FF"/>
                </a:solidFill>
                <a:latin typeface="Aptos Mono"/>
              </a:rPr>
              <a:t>71</a:t>
            </a:r>
          </a:p>
        </p:txBody>
      </p:sp>
      <p:cxnSp>
        <p:nvCxnSpPr>
          <p:cNvPr id="44" name="Connector 43"/>
          <p:cNvCxnSpPr/>
          <p:nvPr/>
        </p:nvCxnSpPr>
        <p:spPr>
          <a:xfrm>
            <a:off x="6656832" y="3785616"/>
            <a:ext cx="4343400" cy="0"/>
          </a:xfrm>
          <a:prstGeom prst="line">
            <a:avLst/>
          </a:prstGeom>
          <a:ln w="12700">
            <a:solidFill>
              <a:srgbClr val="1E3149"/>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6711696" y="3849624"/>
            <a:ext cx="100584" cy="100584"/>
          </a:xfrm>
          <a:prstGeom prst="ellipse">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6" name="TextBox 45"/>
          <p:cNvSpPr txBox="1"/>
          <p:nvPr/>
        </p:nvSpPr>
        <p:spPr>
          <a:xfrm>
            <a:off x="6912864" y="3785616"/>
            <a:ext cx="2331720" cy="201168"/>
          </a:xfrm>
          <a:prstGeom prst="rect">
            <a:avLst/>
          </a:prstGeom>
          <a:noFill/>
        </p:spPr>
        <p:txBody>
          <a:bodyPr wrap="square" lIns="36576" tIns="18288" rIns="36576" bIns="18288" anchor="t"/>
          <a:lstStyle/>
          <a:p>
            <a:pPr algn="l"/>
            <a:r>
              <a:rPr sz="1300" b="0">
                <a:solidFill>
                  <a:srgbClr val="EFF6FF"/>
                </a:solidFill>
                <a:latin typeface="Aptos"/>
              </a:rPr>
              <a:t>Unusual DNS request</a:t>
            </a:r>
          </a:p>
        </p:txBody>
      </p:sp>
      <p:sp>
        <p:nvSpPr>
          <p:cNvPr id="47" name="TextBox 46"/>
          <p:cNvSpPr txBox="1"/>
          <p:nvPr/>
        </p:nvSpPr>
        <p:spPr>
          <a:xfrm>
            <a:off x="9217152" y="3785616"/>
            <a:ext cx="713232" cy="201168"/>
          </a:xfrm>
          <a:prstGeom prst="rect">
            <a:avLst/>
          </a:prstGeom>
          <a:noFill/>
        </p:spPr>
        <p:txBody>
          <a:bodyPr wrap="square" lIns="36576" tIns="18288" rIns="36576" bIns="18288" anchor="t"/>
          <a:lstStyle/>
          <a:p>
            <a:pPr algn="ctr"/>
            <a:r>
              <a:rPr sz="1300" b="1">
                <a:solidFill>
                  <a:srgbClr val="29D3FF"/>
                </a:solidFill>
                <a:latin typeface="Aptos Mono"/>
              </a:rPr>
              <a:t>MEDIUM</a:t>
            </a:r>
          </a:p>
        </p:txBody>
      </p:sp>
      <p:sp>
        <p:nvSpPr>
          <p:cNvPr id="48" name="TextBox 47"/>
          <p:cNvSpPr txBox="1"/>
          <p:nvPr/>
        </p:nvSpPr>
        <p:spPr>
          <a:xfrm>
            <a:off x="10543032" y="3785616"/>
            <a:ext cx="411480" cy="201168"/>
          </a:xfrm>
          <a:prstGeom prst="rect">
            <a:avLst/>
          </a:prstGeom>
          <a:noFill/>
        </p:spPr>
        <p:txBody>
          <a:bodyPr wrap="square" lIns="36576" tIns="18288" rIns="36576" bIns="18288" anchor="t"/>
          <a:lstStyle/>
          <a:p>
            <a:pPr algn="r"/>
            <a:r>
              <a:rPr sz="1300" b="1">
                <a:solidFill>
                  <a:srgbClr val="EFF6FF"/>
                </a:solidFill>
                <a:latin typeface="Aptos Mono"/>
              </a:rPr>
              <a:t>46</a:t>
            </a:r>
          </a:p>
        </p:txBody>
      </p:sp>
      <p:sp>
        <p:nvSpPr>
          <p:cNvPr id="49" name="Rounded Rectangle 48"/>
          <p:cNvSpPr/>
          <p:nvPr/>
        </p:nvSpPr>
        <p:spPr>
          <a:xfrm>
            <a:off x="6446520" y="4553712"/>
            <a:ext cx="2286000" cy="1051560"/>
          </a:xfrm>
          <a:prstGeom prst="roundRect">
            <a:avLst/>
          </a:prstGeom>
          <a:solidFill>
            <a:srgbClr val="101B2D"/>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50" name="TextBox 49"/>
          <p:cNvSpPr txBox="1"/>
          <p:nvPr/>
        </p:nvSpPr>
        <p:spPr>
          <a:xfrm>
            <a:off x="6612268" y="4620637"/>
            <a:ext cx="1645920" cy="164592"/>
          </a:xfrm>
          <a:prstGeom prst="rect">
            <a:avLst/>
          </a:prstGeom>
          <a:noFill/>
        </p:spPr>
        <p:txBody>
          <a:bodyPr wrap="square" lIns="36576" tIns="18288" rIns="36576" bIns="18288" anchor="t"/>
          <a:lstStyle/>
          <a:p>
            <a:pPr algn="l"/>
            <a:r>
              <a:rPr sz="1300" b="1" dirty="0">
                <a:solidFill>
                  <a:srgbClr val="9CAEC6"/>
                </a:solidFill>
                <a:latin typeface="Aptos Mono"/>
              </a:rPr>
              <a:t>RISK DISTRIBUTION</a:t>
            </a:r>
          </a:p>
        </p:txBody>
      </p:sp>
      <p:sp>
        <p:nvSpPr>
          <p:cNvPr id="51" name="Rectangle 50"/>
          <p:cNvSpPr/>
          <p:nvPr/>
        </p:nvSpPr>
        <p:spPr>
          <a:xfrm>
            <a:off x="6693408" y="5223510"/>
            <a:ext cx="246888" cy="98298"/>
          </a:xfrm>
          <a:prstGeom prst="rect">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52" name="Rectangle 51"/>
          <p:cNvSpPr/>
          <p:nvPr/>
        </p:nvSpPr>
        <p:spPr>
          <a:xfrm>
            <a:off x="7123176" y="5156667"/>
            <a:ext cx="246888" cy="165140"/>
          </a:xfrm>
          <a:prstGeom prst="rect">
            <a:avLst/>
          </a:prstGeom>
          <a:solidFill>
            <a:srgbClr val="4984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53" name="Rectangle 52"/>
          <p:cNvSpPr/>
          <p:nvPr/>
        </p:nvSpPr>
        <p:spPr>
          <a:xfrm>
            <a:off x="7552944" y="5026914"/>
            <a:ext cx="246888" cy="294894"/>
          </a:xfrm>
          <a:prstGeom prst="rect">
            <a:avLst/>
          </a:prstGeom>
          <a:solidFill>
            <a:srgbClr val="FF9948"/>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54" name="Rectangle 53"/>
          <p:cNvSpPr/>
          <p:nvPr/>
        </p:nvSpPr>
        <p:spPr>
          <a:xfrm>
            <a:off x="7982712" y="4928616"/>
            <a:ext cx="246888" cy="393192"/>
          </a:xfrm>
          <a:prstGeom prst="rect">
            <a:avLst/>
          </a:prstGeom>
          <a:solidFill>
            <a:srgbClr val="FF4A4A"/>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55" name="Rounded Rectangle 54"/>
          <p:cNvSpPr/>
          <p:nvPr/>
        </p:nvSpPr>
        <p:spPr>
          <a:xfrm>
            <a:off x="8887968" y="4553712"/>
            <a:ext cx="2331720" cy="1051560"/>
          </a:xfrm>
          <a:prstGeom prst="roundRect">
            <a:avLst/>
          </a:prstGeom>
          <a:solidFill>
            <a:srgbClr val="101B2D"/>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56" name="TextBox 55"/>
          <p:cNvSpPr txBox="1"/>
          <p:nvPr/>
        </p:nvSpPr>
        <p:spPr>
          <a:xfrm>
            <a:off x="9089136" y="4736592"/>
            <a:ext cx="1645920" cy="164592"/>
          </a:xfrm>
          <a:prstGeom prst="rect">
            <a:avLst/>
          </a:prstGeom>
          <a:noFill/>
        </p:spPr>
        <p:txBody>
          <a:bodyPr wrap="square" lIns="36576" tIns="18288" rIns="36576" bIns="18288" anchor="t"/>
          <a:lstStyle/>
          <a:p>
            <a:pPr algn="l"/>
            <a:r>
              <a:rPr sz="1300" b="1">
                <a:solidFill>
                  <a:srgbClr val="9CAEC6"/>
                </a:solidFill>
                <a:latin typeface="Aptos Mono"/>
              </a:rPr>
              <a:t>AI EXPLANATION</a:t>
            </a:r>
          </a:p>
        </p:txBody>
      </p:sp>
      <p:sp>
        <p:nvSpPr>
          <p:cNvPr id="57" name="TextBox 56"/>
          <p:cNvSpPr txBox="1"/>
          <p:nvPr/>
        </p:nvSpPr>
        <p:spPr>
          <a:xfrm>
            <a:off x="9089136" y="5010912"/>
            <a:ext cx="1691640" cy="201168"/>
          </a:xfrm>
          <a:prstGeom prst="rect">
            <a:avLst/>
          </a:prstGeom>
          <a:noFill/>
        </p:spPr>
        <p:txBody>
          <a:bodyPr wrap="square" lIns="36576" tIns="18288" rIns="36576" bIns="18288" anchor="t"/>
          <a:lstStyle/>
          <a:p>
            <a:pPr algn="l"/>
            <a:r>
              <a:rPr sz="1300" b="1" dirty="0">
                <a:solidFill>
                  <a:srgbClr val="EFF6FF"/>
                </a:solidFill>
                <a:latin typeface="Aptos"/>
              </a:rPr>
              <a:t>Why this alert matters</a:t>
            </a:r>
          </a:p>
        </p:txBody>
      </p:sp>
      <p:sp>
        <p:nvSpPr>
          <p:cNvPr id="58" name="TextBox 57"/>
          <p:cNvSpPr txBox="1"/>
          <p:nvPr/>
        </p:nvSpPr>
        <p:spPr>
          <a:xfrm>
            <a:off x="9089136" y="5266944"/>
            <a:ext cx="1691640" cy="164592"/>
          </a:xfrm>
          <a:prstGeom prst="rect">
            <a:avLst/>
          </a:prstGeom>
          <a:noFill/>
        </p:spPr>
        <p:txBody>
          <a:bodyPr wrap="square" lIns="36576" tIns="18288" rIns="36576" bIns="18288" anchor="t"/>
          <a:lstStyle/>
          <a:p>
            <a:pPr algn="l"/>
            <a:endParaRPr sz="1300" b="0" dirty="0">
              <a:solidFill>
                <a:srgbClr val="29D3FF"/>
              </a:solidFill>
              <a:latin typeface="Aptos"/>
            </a:endParaRPr>
          </a:p>
        </p:txBody>
      </p:sp>
      <p:sp>
        <p:nvSpPr>
          <p:cNvPr id="59" name="TextBox 58"/>
          <p:cNvSpPr txBox="1"/>
          <p:nvPr/>
        </p:nvSpPr>
        <p:spPr>
          <a:xfrm>
            <a:off x="621792" y="6547104"/>
            <a:ext cx="6400800" cy="164592"/>
          </a:xfrm>
          <a:prstGeom prst="rect">
            <a:avLst/>
          </a:prstGeom>
          <a:noFill/>
        </p:spPr>
        <p:txBody>
          <a:bodyPr wrap="square" lIns="36576" tIns="18288" rIns="36576" bIns="18288" anchor="t"/>
          <a:lstStyle/>
          <a:p>
            <a:pPr algn="l"/>
            <a:r>
              <a:rPr sz="1300" b="1">
                <a:solidFill>
                  <a:srgbClr val="9CAEC6"/>
                </a:solidFill>
                <a:latin typeface="Aptos Mono"/>
              </a:rPr>
              <a:t>THREATNEXUS  /  AI SECURITY OPERATIONS</a:t>
            </a:r>
          </a:p>
        </p:txBody>
      </p:sp>
      <p:sp>
        <p:nvSpPr>
          <p:cNvPr id="60" name="TextBox 59"/>
          <p:cNvSpPr txBox="1"/>
          <p:nvPr/>
        </p:nvSpPr>
        <p:spPr>
          <a:xfrm>
            <a:off x="11064240" y="6510528"/>
            <a:ext cx="502920" cy="201168"/>
          </a:xfrm>
          <a:prstGeom prst="rect">
            <a:avLst/>
          </a:prstGeom>
          <a:noFill/>
        </p:spPr>
        <p:txBody>
          <a:bodyPr wrap="square" lIns="36576" tIns="18288" rIns="36576" bIns="18288" anchor="t"/>
          <a:lstStyle/>
          <a:p>
            <a:pPr algn="r"/>
            <a:r>
              <a:rPr sz="1300" b="1">
                <a:solidFill>
                  <a:srgbClr val="9CAEC6"/>
                </a:solidFill>
                <a:latin typeface="Aptos Mono"/>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101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 name="TextBox 2"/>
          <p:cNvSpPr txBox="1"/>
          <p:nvPr/>
        </p:nvSpPr>
        <p:spPr>
          <a:xfrm>
            <a:off x="594360" y="347472"/>
            <a:ext cx="2926080" cy="228600"/>
          </a:xfrm>
          <a:prstGeom prst="rect">
            <a:avLst/>
          </a:prstGeom>
          <a:noFill/>
        </p:spPr>
        <p:txBody>
          <a:bodyPr wrap="square" lIns="36576" tIns="18288" rIns="36576" bIns="18288" anchor="t"/>
          <a:lstStyle/>
          <a:p>
            <a:pPr algn="l"/>
            <a:r>
              <a:rPr sz="1300" b="1">
                <a:solidFill>
                  <a:srgbClr val="29D3FF"/>
                </a:solidFill>
                <a:latin typeface="Aptos Mono"/>
              </a:rPr>
              <a:t>01 / PROBLEM</a:t>
            </a:r>
          </a:p>
        </p:txBody>
      </p:sp>
      <p:sp>
        <p:nvSpPr>
          <p:cNvPr id="4" name="TextBox 3"/>
          <p:cNvSpPr txBox="1"/>
          <p:nvPr/>
        </p:nvSpPr>
        <p:spPr>
          <a:xfrm>
            <a:off x="594360" y="658368"/>
            <a:ext cx="10972800" cy="566928"/>
          </a:xfrm>
          <a:prstGeom prst="rect">
            <a:avLst/>
          </a:prstGeom>
          <a:noFill/>
        </p:spPr>
        <p:txBody>
          <a:bodyPr wrap="square" lIns="36576" tIns="18288" rIns="36576" bIns="18288" anchor="t"/>
          <a:lstStyle/>
          <a:p>
            <a:pPr algn="l"/>
            <a:r>
              <a:rPr sz="2800" b="1">
                <a:solidFill>
                  <a:srgbClr val="EFF6FF"/>
                </a:solidFill>
                <a:latin typeface="Aptos"/>
              </a:rPr>
              <a:t>The SOC Triage Problem</a:t>
            </a:r>
          </a:p>
        </p:txBody>
      </p:sp>
      <p:sp>
        <p:nvSpPr>
          <p:cNvPr id="5" name="TextBox 4"/>
          <p:cNvSpPr txBox="1"/>
          <p:nvPr/>
        </p:nvSpPr>
        <p:spPr>
          <a:xfrm>
            <a:off x="621792" y="1307592"/>
            <a:ext cx="10789920" cy="384048"/>
          </a:xfrm>
          <a:prstGeom prst="rect">
            <a:avLst/>
          </a:prstGeom>
          <a:noFill/>
        </p:spPr>
        <p:txBody>
          <a:bodyPr wrap="square" lIns="36576" tIns="18288" rIns="36576" bIns="18288" anchor="t"/>
          <a:lstStyle/>
          <a:p>
            <a:pPr algn="l"/>
            <a:r>
              <a:rPr sz="1400" b="1">
                <a:solidFill>
                  <a:srgbClr val="EFF6FF"/>
                </a:solidFill>
                <a:latin typeface="Aptos"/>
              </a:rPr>
              <a:t>Security tools detect threats. Analysts still have to decide what matters most.</a:t>
            </a:r>
          </a:p>
        </p:txBody>
      </p:sp>
      <p:sp>
        <p:nvSpPr>
          <p:cNvPr id="6" name="Rounded Rectangle 5"/>
          <p:cNvSpPr/>
          <p:nvPr/>
        </p:nvSpPr>
        <p:spPr>
          <a:xfrm>
            <a:off x="640080" y="1965960"/>
            <a:ext cx="3401568" cy="1234440"/>
          </a:xfrm>
          <a:prstGeom prst="roundRect">
            <a:avLst/>
          </a:prstGeom>
          <a:solidFill>
            <a:srgbClr val="101B2D"/>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7" name="TextBox 6"/>
          <p:cNvSpPr txBox="1"/>
          <p:nvPr/>
        </p:nvSpPr>
        <p:spPr>
          <a:xfrm>
            <a:off x="841247" y="2176272"/>
            <a:ext cx="1417320" cy="384048"/>
          </a:xfrm>
          <a:prstGeom prst="rect">
            <a:avLst/>
          </a:prstGeom>
          <a:noFill/>
        </p:spPr>
        <p:txBody>
          <a:bodyPr wrap="square" lIns="36576" tIns="18288" rIns="36576" bIns="18288" anchor="t"/>
          <a:lstStyle/>
          <a:p>
            <a:pPr algn="l"/>
            <a:r>
              <a:rPr sz="2600" b="1">
                <a:solidFill>
                  <a:srgbClr val="29D3FF"/>
                </a:solidFill>
                <a:latin typeface="Aptos"/>
              </a:rPr>
              <a:t>≈10,000</a:t>
            </a:r>
          </a:p>
        </p:txBody>
      </p:sp>
      <p:sp>
        <p:nvSpPr>
          <p:cNvPr id="8" name="TextBox 7"/>
          <p:cNvSpPr txBox="1"/>
          <p:nvPr/>
        </p:nvSpPr>
        <p:spPr>
          <a:xfrm>
            <a:off x="2267712" y="2276856"/>
            <a:ext cx="1417320" cy="201168"/>
          </a:xfrm>
          <a:prstGeom prst="rect">
            <a:avLst/>
          </a:prstGeom>
          <a:noFill/>
        </p:spPr>
        <p:txBody>
          <a:bodyPr wrap="square" lIns="36576" tIns="18288" rIns="36576" bIns="18288" anchor="t"/>
          <a:lstStyle/>
          <a:p>
            <a:pPr algn="l"/>
            <a:r>
              <a:rPr sz="1300" b="1">
                <a:solidFill>
                  <a:srgbClr val="9CAEC6"/>
                </a:solidFill>
                <a:latin typeface="Aptos Mono"/>
              </a:rPr>
              <a:t>alerts / day</a:t>
            </a:r>
          </a:p>
        </p:txBody>
      </p:sp>
      <p:sp>
        <p:nvSpPr>
          <p:cNvPr id="9" name="TextBox 8"/>
          <p:cNvSpPr txBox="1"/>
          <p:nvPr/>
        </p:nvSpPr>
        <p:spPr>
          <a:xfrm>
            <a:off x="841247" y="2697480"/>
            <a:ext cx="2880360" cy="228600"/>
          </a:xfrm>
          <a:prstGeom prst="rect">
            <a:avLst/>
          </a:prstGeom>
          <a:noFill/>
        </p:spPr>
        <p:txBody>
          <a:bodyPr wrap="square" lIns="36576" tIns="18288" rIns="36576" bIns="18288" anchor="t"/>
          <a:lstStyle/>
          <a:p>
            <a:pPr algn="l"/>
            <a:r>
              <a:rPr sz="1300" b="0">
                <a:solidFill>
                  <a:srgbClr val="EFF6FF"/>
                </a:solidFill>
                <a:latin typeface="Aptos"/>
              </a:rPr>
              <a:t>Enterprise SOC volume</a:t>
            </a:r>
          </a:p>
        </p:txBody>
      </p:sp>
      <p:sp>
        <p:nvSpPr>
          <p:cNvPr id="10" name="Rounded Rectangle 9"/>
          <p:cNvSpPr/>
          <p:nvPr/>
        </p:nvSpPr>
        <p:spPr>
          <a:xfrm>
            <a:off x="4434840" y="1965960"/>
            <a:ext cx="3401568" cy="1234440"/>
          </a:xfrm>
          <a:prstGeom prst="roundRect">
            <a:avLst/>
          </a:prstGeom>
          <a:solidFill>
            <a:srgbClr val="101B2D"/>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 name="TextBox 10"/>
          <p:cNvSpPr txBox="1"/>
          <p:nvPr/>
        </p:nvSpPr>
        <p:spPr>
          <a:xfrm>
            <a:off x="4636008" y="2176272"/>
            <a:ext cx="1417320" cy="384048"/>
          </a:xfrm>
          <a:prstGeom prst="rect">
            <a:avLst/>
          </a:prstGeom>
          <a:noFill/>
        </p:spPr>
        <p:txBody>
          <a:bodyPr wrap="square" lIns="36576" tIns="18288" rIns="36576" bIns="18288" anchor="t"/>
          <a:lstStyle/>
          <a:p>
            <a:pPr algn="l"/>
            <a:r>
              <a:rPr sz="2600" b="1">
                <a:solidFill>
                  <a:srgbClr val="FF9948"/>
                </a:solidFill>
                <a:latin typeface="Aptos"/>
              </a:rPr>
              <a:t>66%</a:t>
            </a:r>
          </a:p>
        </p:txBody>
      </p:sp>
      <p:sp>
        <p:nvSpPr>
          <p:cNvPr id="12" name="TextBox 11"/>
          <p:cNvSpPr txBox="1"/>
          <p:nvPr/>
        </p:nvSpPr>
        <p:spPr>
          <a:xfrm>
            <a:off x="6062472" y="2276856"/>
            <a:ext cx="1417320" cy="201168"/>
          </a:xfrm>
          <a:prstGeom prst="rect">
            <a:avLst/>
          </a:prstGeom>
          <a:noFill/>
        </p:spPr>
        <p:txBody>
          <a:bodyPr wrap="square" lIns="36576" tIns="18288" rIns="36576" bIns="18288" anchor="t"/>
          <a:lstStyle/>
          <a:p>
            <a:pPr algn="l"/>
            <a:r>
              <a:rPr sz="1300" b="1">
                <a:solidFill>
                  <a:srgbClr val="9CAEC6"/>
                </a:solidFill>
                <a:latin typeface="Aptos Mono"/>
              </a:rPr>
              <a:t>dismissed</a:t>
            </a:r>
          </a:p>
        </p:txBody>
      </p:sp>
      <p:sp>
        <p:nvSpPr>
          <p:cNvPr id="13" name="TextBox 12"/>
          <p:cNvSpPr txBox="1"/>
          <p:nvPr/>
        </p:nvSpPr>
        <p:spPr>
          <a:xfrm>
            <a:off x="4636008" y="2697480"/>
            <a:ext cx="2880360" cy="228600"/>
          </a:xfrm>
          <a:prstGeom prst="rect">
            <a:avLst/>
          </a:prstGeom>
          <a:noFill/>
        </p:spPr>
        <p:txBody>
          <a:bodyPr wrap="square" lIns="36576" tIns="18288" rIns="36576" bIns="18288" anchor="t"/>
          <a:lstStyle/>
          <a:p>
            <a:pPr algn="l"/>
            <a:r>
              <a:rPr sz="1300" b="0">
                <a:solidFill>
                  <a:srgbClr val="EFF6FF"/>
                </a:solidFill>
                <a:latin typeface="Aptos"/>
              </a:rPr>
              <a:t>Because of alert volume</a:t>
            </a:r>
          </a:p>
        </p:txBody>
      </p:sp>
      <p:sp>
        <p:nvSpPr>
          <p:cNvPr id="14" name="Rounded Rectangle 13"/>
          <p:cNvSpPr/>
          <p:nvPr/>
        </p:nvSpPr>
        <p:spPr>
          <a:xfrm>
            <a:off x="8229600" y="1965960"/>
            <a:ext cx="3401568" cy="1234440"/>
          </a:xfrm>
          <a:prstGeom prst="roundRect">
            <a:avLst/>
          </a:prstGeom>
          <a:solidFill>
            <a:srgbClr val="101B2D"/>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 name="TextBox 14"/>
          <p:cNvSpPr txBox="1"/>
          <p:nvPr/>
        </p:nvSpPr>
        <p:spPr>
          <a:xfrm>
            <a:off x="8430768" y="2176272"/>
            <a:ext cx="1417320" cy="384048"/>
          </a:xfrm>
          <a:prstGeom prst="rect">
            <a:avLst/>
          </a:prstGeom>
          <a:noFill/>
        </p:spPr>
        <p:txBody>
          <a:bodyPr wrap="square" lIns="36576" tIns="18288" rIns="36576" bIns="18288" anchor="t"/>
          <a:lstStyle/>
          <a:p>
            <a:pPr algn="l"/>
            <a:r>
              <a:rPr sz="2600" b="1">
                <a:solidFill>
                  <a:srgbClr val="FF4A4A"/>
                </a:solidFill>
                <a:latin typeface="Aptos"/>
              </a:rPr>
              <a:t>204</a:t>
            </a:r>
          </a:p>
        </p:txBody>
      </p:sp>
      <p:sp>
        <p:nvSpPr>
          <p:cNvPr id="16" name="TextBox 15"/>
          <p:cNvSpPr txBox="1"/>
          <p:nvPr/>
        </p:nvSpPr>
        <p:spPr>
          <a:xfrm>
            <a:off x="9857232" y="2276856"/>
            <a:ext cx="1417320" cy="201168"/>
          </a:xfrm>
          <a:prstGeom prst="rect">
            <a:avLst/>
          </a:prstGeom>
          <a:noFill/>
        </p:spPr>
        <p:txBody>
          <a:bodyPr wrap="square" lIns="36576" tIns="18288" rIns="36576" bIns="18288" anchor="t"/>
          <a:lstStyle/>
          <a:p>
            <a:pPr algn="l"/>
            <a:r>
              <a:rPr sz="1300" b="1">
                <a:solidFill>
                  <a:srgbClr val="9CAEC6"/>
                </a:solidFill>
                <a:latin typeface="Aptos Mono"/>
              </a:rPr>
              <a:t>days</a:t>
            </a:r>
          </a:p>
        </p:txBody>
      </p:sp>
      <p:sp>
        <p:nvSpPr>
          <p:cNvPr id="17" name="TextBox 16"/>
          <p:cNvSpPr txBox="1"/>
          <p:nvPr/>
        </p:nvSpPr>
        <p:spPr>
          <a:xfrm>
            <a:off x="8430768" y="2697480"/>
            <a:ext cx="2880360" cy="228600"/>
          </a:xfrm>
          <a:prstGeom prst="rect">
            <a:avLst/>
          </a:prstGeom>
          <a:noFill/>
        </p:spPr>
        <p:txBody>
          <a:bodyPr wrap="square" lIns="36576" tIns="18288" rIns="36576" bIns="18288" anchor="t"/>
          <a:lstStyle/>
          <a:p>
            <a:pPr algn="l"/>
            <a:r>
              <a:rPr sz="1300" b="0">
                <a:solidFill>
                  <a:srgbClr val="EFF6FF"/>
                </a:solidFill>
                <a:latin typeface="Aptos"/>
              </a:rPr>
              <a:t>Average breach identification</a:t>
            </a:r>
          </a:p>
        </p:txBody>
      </p:sp>
      <p:sp>
        <p:nvSpPr>
          <p:cNvPr id="18" name="Rounded Rectangle 17"/>
          <p:cNvSpPr/>
          <p:nvPr/>
        </p:nvSpPr>
        <p:spPr>
          <a:xfrm>
            <a:off x="640080" y="3493008"/>
            <a:ext cx="10927080" cy="2304288"/>
          </a:xfrm>
          <a:prstGeom prst="roundRect">
            <a:avLst/>
          </a:prstGeom>
          <a:solidFill>
            <a:srgbClr val="060C16"/>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 name="TextBox 18"/>
          <p:cNvSpPr txBox="1"/>
          <p:nvPr/>
        </p:nvSpPr>
        <p:spPr>
          <a:xfrm>
            <a:off x="868680" y="3694176"/>
            <a:ext cx="2743200" cy="182880"/>
          </a:xfrm>
          <a:prstGeom prst="rect">
            <a:avLst/>
          </a:prstGeom>
          <a:noFill/>
        </p:spPr>
        <p:txBody>
          <a:bodyPr wrap="square" lIns="36576" tIns="18288" rIns="36576" bIns="18288" anchor="t"/>
          <a:lstStyle/>
          <a:p>
            <a:pPr algn="l"/>
            <a:r>
              <a:rPr sz="1300" b="1">
                <a:solidFill>
                  <a:srgbClr val="29D3FF"/>
                </a:solidFill>
                <a:latin typeface="Aptos Mono"/>
              </a:rPr>
              <a:t>THE ATTENTION BOTTLENECK</a:t>
            </a:r>
          </a:p>
        </p:txBody>
      </p:sp>
      <p:sp>
        <p:nvSpPr>
          <p:cNvPr id="20" name="Trapezoid 19"/>
          <p:cNvSpPr/>
          <p:nvPr/>
        </p:nvSpPr>
        <p:spPr>
          <a:xfrm>
            <a:off x="1143000" y="4096512"/>
            <a:ext cx="9784080" cy="301752"/>
          </a:xfrm>
          <a:prstGeom prst="trapezoid">
            <a:avLst/>
          </a:prstGeom>
          <a:solidFill>
            <a:srgbClr val="142338"/>
          </a:solidFill>
          <a:ln>
            <a:solidFill>
              <a:srgbClr val="FF4A4A"/>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1" name="TextBox 20"/>
          <p:cNvSpPr txBox="1"/>
          <p:nvPr/>
        </p:nvSpPr>
        <p:spPr>
          <a:xfrm>
            <a:off x="1325880" y="4133088"/>
            <a:ext cx="9418319" cy="201168"/>
          </a:xfrm>
          <a:prstGeom prst="rect">
            <a:avLst/>
          </a:prstGeom>
          <a:noFill/>
        </p:spPr>
        <p:txBody>
          <a:bodyPr wrap="square" lIns="36576" tIns="18288" rIns="36576" bIns="18288" anchor="t"/>
          <a:lstStyle/>
          <a:p>
            <a:pPr algn="ctr"/>
            <a:r>
              <a:rPr sz="1300" b="1">
                <a:solidFill>
                  <a:srgbClr val="EFF6FF"/>
                </a:solidFill>
                <a:latin typeface="Aptos"/>
              </a:rPr>
              <a:t>Raw alerts   10K+</a:t>
            </a:r>
          </a:p>
        </p:txBody>
      </p:sp>
      <p:sp>
        <p:nvSpPr>
          <p:cNvPr id="22" name="Trapezoid 21"/>
          <p:cNvSpPr/>
          <p:nvPr/>
        </p:nvSpPr>
        <p:spPr>
          <a:xfrm>
            <a:off x="2331720" y="4489704"/>
            <a:ext cx="7406640" cy="301752"/>
          </a:xfrm>
          <a:prstGeom prst="trapezoid">
            <a:avLst/>
          </a:prstGeom>
          <a:solidFill>
            <a:srgbClr val="142338"/>
          </a:solidFill>
          <a:ln>
            <a:solidFill>
              <a:srgbClr val="FF994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3" name="TextBox 22"/>
          <p:cNvSpPr txBox="1"/>
          <p:nvPr/>
        </p:nvSpPr>
        <p:spPr>
          <a:xfrm>
            <a:off x="2514600" y="4526280"/>
            <a:ext cx="7040879" cy="201168"/>
          </a:xfrm>
          <a:prstGeom prst="rect">
            <a:avLst/>
          </a:prstGeom>
          <a:noFill/>
        </p:spPr>
        <p:txBody>
          <a:bodyPr wrap="square" lIns="36576" tIns="18288" rIns="36576" bIns="18288" anchor="t"/>
          <a:lstStyle/>
          <a:p>
            <a:pPr algn="ctr"/>
            <a:r>
              <a:rPr sz="1300" b="1">
                <a:solidFill>
                  <a:srgbClr val="EFF6FF"/>
                </a:solidFill>
                <a:latin typeface="Aptos"/>
              </a:rPr>
              <a:t>Candidate alerts   1K+</a:t>
            </a:r>
          </a:p>
        </p:txBody>
      </p:sp>
      <p:sp>
        <p:nvSpPr>
          <p:cNvPr id="24" name="Trapezoid 23"/>
          <p:cNvSpPr/>
          <p:nvPr/>
        </p:nvSpPr>
        <p:spPr>
          <a:xfrm>
            <a:off x="3474720" y="4882896"/>
            <a:ext cx="5120640" cy="301752"/>
          </a:xfrm>
          <a:prstGeom prst="trapezoid">
            <a:avLst/>
          </a:prstGeom>
          <a:solidFill>
            <a:srgbClr val="142338"/>
          </a:solidFill>
          <a:ln>
            <a:solidFill>
              <a:srgbClr val="29D3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5" name="TextBox 24"/>
          <p:cNvSpPr txBox="1"/>
          <p:nvPr/>
        </p:nvSpPr>
        <p:spPr>
          <a:xfrm>
            <a:off x="3657600" y="4919472"/>
            <a:ext cx="4754879" cy="201168"/>
          </a:xfrm>
          <a:prstGeom prst="rect">
            <a:avLst/>
          </a:prstGeom>
          <a:noFill/>
        </p:spPr>
        <p:txBody>
          <a:bodyPr wrap="square" lIns="36576" tIns="18288" rIns="36576" bIns="18288" anchor="t"/>
          <a:lstStyle/>
          <a:p>
            <a:pPr algn="ctr"/>
            <a:r>
              <a:rPr sz="1300" b="1">
                <a:solidFill>
                  <a:srgbClr val="EFF6FF"/>
                </a:solidFill>
                <a:latin typeface="Aptos"/>
              </a:rPr>
              <a:t>Analyst attention   100s</a:t>
            </a:r>
          </a:p>
        </p:txBody>
      </p:sp>
      <p:sp>
        <p:nvSpPr>
          <p:cNvPr id="26" name="Trapezoid 25"/>
          <p:cNvSpPr/>
          <p:nvPr/>
        </p:nvSpPr>
        <p:spPr>
          <a:xfrm>
            <a:off x="4572000" y="5276088"/>
            <a:ext cx="2926080" cy="301752"/>
          </a:xfrm>
          <a:prstGeom prst="trapezoid">
            <a:avLst/>
          </a:prstGeom>
          <a:solidFill>
            <a:srgbClr val="142338"/>
          </a:solidFill>
          <a:ln>
            <a:solidFill>
              <a:srgbClr val="3ED38B"/>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7" name="TextBox 26"/>
          <p:cNvSpPr txBox="1"/>
          <p:nvPr/>
        </p:nvSpPr>
        <p:spPr>
          <a:xfrm>
            <a:off x="4754880" y="5312664"/>
            <a:ext cx="2560320" cy="201168"/>
          </a:xfrm>
          <a:prstGeom prst="rect">
            <a:avLst/>
          </a:prstGeom>
          <a:noFill/>
        </p:spPr>
        <p:txBody>
          <a:bodyPr wrap="square" lIns="36576" tIns="18288" rIns="36576" bIns="18288" anchor="t"/>
          <a:lstStyle/>
          <a:p>
            <a:pPr algn="ctr"/>
            <a:r>
              <a:rPr sz="1300" b="1">
                <a:solidFill>
                  <a:srgbClr val="EFF6FF"/>
                </a:solidFill>
                <a:latin typeface="Aptos"/>
              </a:rPr>
              <a:t>Deep investigation   10s</a:t>
            </a:r>
          </a:p>
        </p:txBody>
      </p:sp>
      <p:sp>
        <p:nvSpPr>
          <p:cNvPr id="28" name="TextBox 27"/>
          <p:cNvSpPr txBox="1"/>
          <p:nvPr/>
        </p:nvSpPr>
        <p:spPr>
          <a:xfrm>
            <a:off x="1051560" y="5559552"/>
            <a:ext cx="9875520" cy="228600"/>
          </a:xfrm>
          <a:prstGeom prst="rect">
            <a:avLst/>
          </a:prstGeom>
          <a:noFill/>
        </p:spPr>
        <p:txBody>
          <a:bodyPr wrap="square" lIns="36576" tIns="18288" rIns="36576" bIns="18288" anchor="t"/>
          <a:lstStyle/>
          <a:p>
            <a:pPr algn="ctr"/>
            <a:r>
              <a:rPr sz="1400" b="1">
                <a:solidFill>
                  <a:srgbClr val="9CAEC6"/>
                </a:solidFill>
                <a:latin typeface="Aptos"/>
              </a:rPr>
              <a:t>Static severity is not enough → it ignores asset importance, IOC reputation, and related events.</a:t>
            </a:r>
          </a:p>
        </p:txBody>
      </p:sp>
      <p:sp>
        <p:nvSpPr>
          <p:cNvPr id="29" name="TextBox 28"/>
          <p:cNvSpPr txBox="1"/>
          <p:nvPr/>
        </p:nvSpPr>
        <p:spPr>
          <a:xfrm>
            <a:off x="621792" y="6547104"/>
            <a:ext cx="6400800" cy="164592"/>
          </a:xfrm>
          <a:prstGeom prst="rect">
            <a:avLst/>
          </a:prstGeom>
          <a:noFill/>
        </p:spPr>
        <p:txBody>
          <a:bodyPr wrap="square" lIns="36576" tIns="18288" rIns="36576" bIns="18288" anchor="t"/>
          <a:lstStyle/>
          <a:p>
            <a:pPr algn="l"/>
            <a:r>
              <a:rPr sz="1300" b="1">
                <a:solidFill>
                  <a:srgbClr val="9CAEC6"/>
                </a:solidFill>
                <a:latin typeface="Aptos Mono"/>
              </a:rPr>
              <a:t>THREATNEXUS  /  AI SECURITY OPERATIONS</a:t>
            </a:r>
          </a:p>
        </p:txBody>
      </p:sp>
      <p:sp>
        <p:nvSpPr>
          <p:cNvPr id="30" name="TextBox 29"/>
          <p:cNvSpPr txBox="1"/>
          <p:nvPr/>
        </p:nvSpPr>
        <p:spPr>
          <a:xfrm>
            <a:off x="11064240" y="6510528"/>
            <a:ext cx="502920" cy="201168"/>
          </a:xfrm>
          <a:prstGeom prst="rect">
            <a:avLst/>
          </a:prstGeom>
          <a:noFill/>
        </p:spPr>
        <p:txBody>
          <a:bodyPr wrap="square" lIns="36576" tIns="18288" rIns="36576" bIns="18288" anchor="t"/>
          <a:lstStyle/>
          <a:p>
            <a:pPr algn="r"/>
            <a:r>
              <a:rPr sz="1300" b="1">
                <a:solidFill>
                  <a:srgbClr val="9CAEC6"/>
                </a:solidFill>
                <a:latin typeface="Aptos Mono"/>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101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 name="TextBox 2"/>
          <p:cNvSpPr txBox="1"/>
          <p:nvPr/>
        </p:nvSpPr>
        <p:spPr>
          <a:xfrm>
            <a:off x="594360" y="347472"/>
            <a:ext cx="2926080" cy="228600"/>
          </a:xfrm>
          <a:prstGeom prst="rect">
            <a:avLst/>
          </a:prstGeom>
          <a:noFill/>
        </p:spPr>
        <p:txBody>
          <a:bodyPr wrap="square" lIns="36576" tIns="18288" rIns="36576" bIns="18288" anchor="t"/>
          <a:lstStyle/>
          <a:p>
            <a:pPr algn="l"/>
            <a:r>
              <a:rPr sz="1300" b="1">
                <a:solidFill>
                  <a:srgbClr val="29D3FF"/>
                </a:solidFill>
                <a:latin typeface="Aptos Mono"/>
              </a:rPr>
              <a:t>02 / SOLUTION</a:t>
            </a:r>
          </a:p>
        </p:txBody>
      </p:sp>
      <p:sp>
        <p:nvSpPr>
          <p:cNvPr id="4" name="TextBox 3"/>
          <p:cNvSpPr txBox="1"/>
          <p:nvPr/>
        </p:nvSpPr>
        <p:spPr>
          <a:xfrm>
            <a:off x="594360" y="658368"/>
            <a:ext cx="10972800" cy="566928"/>
          </a:xfrm>
          <a:prstGeom prst="rect">
            <a:avLst/>
          </a:prstGeom>
          <a:noFill/>
        </p:spPr>
        <p:txBody>
          <a:bodyPr wrap="square" lIns="36576" tIns="18288" rIns="36576" bIns="18288" anchor="t"/>
          <a:lstStyle/>
          <a:p>
            <a:pPr algn="l"/>
            <a:r>
              <a:rPr sz="2800" b="1">
                <a:solidFill>
                  <a:srgbClr val="EFF6FF"/>
                </a:solidFill>
                <a:latin typeface="Aptos"/>
              </a:rPr>
              <a:t>Our Solution</a:t>
            </a:r>
          </a:p>
        </p:txBody>
      </p:sp>
      <p:sp>
        <p:nvSpPr>
          <p:cNvPr id="5" name="TextBox 4"/>
          <p:cNvSpPr txBox="1"/>
          <p:nvPr/>
        </p:nvSpPr>
        <p:spPr>
          <a:xfrm>
            <a:off x="621792" y="1307592"/>
            <a:ext cx="10789920" cy="384048"/>
          </a:xfrm>
          <a:prstGeom prst="rect">
            <a:avLst/>
          </a:prstGeom>
          <a:noFill/>
        </p:spPr>
        <p:txBody>
          <a:bodyPr wrap="square" lIns="36576" tIns="18288" rIns="36576" bIns="18288" anchor="t"/>
          <a:lstStyle/>
          <a:p>
            <a:pPr algn="l"/>
            <a:r>
              <a:rPr sz="1400" b="1">
                <a:solidFill>
                  <a:srgbClr val="EFF6FF"/>
                </a:solidFill>
                <a:latin typeface="Aptos"/>
              </a:rPr>
              <a:t>ThreatNexus converts raw alerts into ranked, explainable investigations.</a:t>
            </a:r>
          </a:p>
        </p:txBody>
      </p:sp>
      <p:sp>
        <p:nvSpPr>
          <p:cNvPr id="6" name="Rounded Rectangle 5"/>
          <p:cNvSpPr/>
          <p:nvPr/>
        </p:nvSpPr>
        <p:spPr>
          <a:xfrm>
            <a:off x="640080" y="2240280"/>
            <a:ext cx="1700784" cy="1572768"/>
          </a:xfrm>
          <a:prstGeom prst="roundRect">
            <a:avLst/>
          </a:prstGeom>
          <a:solidFill>
            <a:srgbClr val="101B2D"/>
          </a:solidFill>
          <a:ln w="12700">
            <a:solidFill>
              <a:srgbClr val="29D3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7" name="Oval 6"/>
          <p:cNvSpPr/>
          <p:nvPr/>
        </p:nvSpPr>
        <p:spPr>
          <a:xfrm>
            <a:off x="786384" y="2404872"/>
            <a:ext cx="310896" cy="310896"/>
          </a:xfrm>
          <a:prstGeom prst="ellipse">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8" name="TextBox 7"/>
          <p:cNvSpPr txBox="1"/>
          <p:nvPr/>
        </p:nvSpPr>
        <p:spPr>
          <a:xfrm>
            <a:off x="786384" y="2427732"/>
            <a:ext cx="310896" cy="201168"/>
          </a:xfrm>
          <a:prstGeom prst="rect">
            <a:avLst/>
          </a:prstGeom>
          <a:noFill/>
        </p:spPr>
        <p:txBody>
          <a:bodyPr wrap="square" lIns="36576" tIns="18288" rIns="36576" bIns="18288" anchor="t"/>
          <a:lstStyle/>
          <a:p>
            <a:pPr algn="ctr"/>
            <a:r>
              <a:rPr sz="1300" b="1">
                <a:solidFill>
                  <a:srgbClr val="060C16"/>
                </a:solidFill>
                <a:latin typeface="Aptos Mono"/>
              </a:rPr>
              <a:t>01</a:t>
            </a:r>
          </a:p>
        </p:txBody>
      </p:sp>
      <p:sp>
        <p:nvSpPr>
          <p:cNvPr id="9" name="TextBox 8"/>
          <p:cNvSpPr txBox="1"/>
          <p:nvPr/>
        </p:nvSpPr>
        <p:spPr>
          <a:xfrm>
            <a:off x="786384" y="2898648"/>
            <a:ext cx="1408176" cy="566928"/>
          </a:xfrm>
          <a:prstGeom prst="rect">
            <a:avLst/>
          </a:prstGeom>
          <a:noFill/>
        </p:spPr>
        <p:txBody>
          <a:bodyPr wrap="square" lIns="36576" tIns="18288" rIns="36576" bIns="18288" anchor="t"/>
          <a:lstStyle/>
          <a:p>
            <a:pPr algn="ctr"/>
            <a:r>
              <a:rPr sz="1300" b="1">
                <a:solidFill>
                  <a:srgbClr val="EFF6FF"/>
                </a:solidFill>
                <a:latin typeface="Aptos"/>
              </a:rPr>
              <a:t>Alert
ingestion</a:t>
            </a:r>
          </a:p>
        </p:txBody>
      </p:sp>
      <p:cxnSp>
        <p:nvCxnSpPr>
          <p:cNvPr id="10" name="Connector 9"/>
          <p:cNvCxnSpPr/>
          <p:nvPr/>
        </p:nvCxnSpPr>
        <p:spPr>
          <a:xfrm>
            <a:off x="2340864" y="3026664"/>
            <a:ext cx="118872" cy="0"/>
          </a:xfrm>
          <a:prstGeom prst="line">
            <a:avLst/>
          </a:prstGeom>
          <a:ln w="25400">
            <a:solidFill>
              <a:srgbClr val="29D3FF"/>
            </a:solidFill>
          </a:ln>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5400000">
            <a:off x="2395728" y="2953512"/>
            <a:ext cx="146304" cy="146304"/>
          </a:xfrm>
          <a:prstGeom prst="triangle">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 name="Rounded Rectangle 11"/>
          <p:cNvSpPr/>
          <p:nvPr/>
        </p:nvSpPr>
        <p:spPr>
          <a:xfrm>
            <a:off x="2487168" y="2240280"/>
            <a:ext cx="1700784" cy="1572768"/>
          </a:xfrm>
          <a:prstGeom prst="roundRect">
            <a:avLst/>
          </a:prstGeom>
          <a:solidFill>
            <a:srgbClr val="101B2D"/>
          </a:solidFill>
          <a:ln w="12700">
            <a:solidFill>
              <a:srgbClr val="4984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3" name="Oval 12"/>
          <p:cNvSpPr/>
          <p:nvPr/>
        </p:nvSpPr>
        <p:spPr>
          <a:xfrm>
            <a:off x="2633472" y="2404872"/>
            <a:ext cx="310896" cy="310896"/>
          </a:xfrm>
          <a:prstGeom prst="ellipse">
            <a:avLst/>
          </a:prstGeom>
          <a:solidFill>
            <a:srgbClr val="4984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4" name="TextBox 13"/>
          <p:cNvSpPr txBox="1"/>
          <p:nvPr/>
        </p:nvSpPr>
        <p:spPr>
          <a:xfrm>
            <a:off x="2633472" y="2427732"/>
            <a:ext cx="310896" cy="201168"/>
          </a:xfrm>
          <a:prstGeom prst="rect">
            <a:avLst/>
          </a:prstGeom>
          <a:noFill/>
        </p:spPr>
        <p:txBody>
          <a:bodyPr wrap="square" lIns="36576" tIns="18288" rIns="36576" bIns="18288" anchor="t"/>
          <a:lstStyle/>
          <a:p>
            <a:pPr algn="ctr"/>
            <a:r>
              <a:rPr sz="1300" b="1">
                <a:solidFill>
                  <a:srgbClr val="060C16"/>
                </a:solidFill>
                <a:latin typeface="Aptos Mono"/>
              </a:rPr>
              <a:t>02</a:t>
            </a:r>
          </a:p>
        </p:txBody>
      </p:sp>
      <p:sp>
        <p:nvSpPr>
          <p:cNvPr id="15" name="TextBox 14"/>
          <p:cNvSpPr txBox="1"/>
          <p:nvPr/>
        </p:nvSpPr>
        <p:spPr>
          <a:xfrm>
            <a:off x="2633472" y="2898648"/>
            <a:ext cx="1408176" cy="566928"/>
          </a:xfrm>
          <a:prstGeom prst="rect">
            <a:avLst/>
          </a:prstGeom>
          <a:noFill/>
        </p:spPr>
        <p:txBody>
          <a:bodyPr wrap="square" lIns="36576" tIns="18288" rIns="36576" bIns="18288" anchor="t"/>
          <a:lstStyle/>
          <a:p>
            <a:pPr algn="ctr"/>
            <a:r>
              <a:rPr sz="1300" b="1">
                <a:solidFill>
                  <a:srgbClr val="EFF6FF"/>
                </a:solidFill>
                <a:latin typeface="Aptos"/>
              </a:rPr>
              <a:t>IOC
extraction</a:t>
            </a:r>
          </a:p>
        </p:txBody>
      </p:sp>
      <p:cxnSp>
        <p:nvCxnSpPr>
          <p:cNvPr id="16" name="Connector 15"/>
          <p:cNvCxnSpPr/>
          <p:nvPr/>
        </p:nvCxnSpPr>
        <p:spPr>
          <a:xfrm>
            <a:off x="4187952" y="3026664"/>
            <a:ext cx="118872" cy="0"/>
          </a:xfrm>
          <a:prstGeom prst="line">
            <a:avLst/>
          </a:prstGeom>
          <a:ln w="25400">
            <a:solidFill>
              <a:srgbClr val="29D3FF"/>
            </a:solidFill>
          </a:ln>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4242816" y="2953512"/>
            <a:ext cx="146304" cy="146304"/>
          </a:xfrm>
          <a:prstGeom prst="triangle">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8" name="Rounded Rectangle 17"/>
          <p:cNvSpPr/>
          <p:nvPr/>
        </p:nvSpPr>
        <p:spPr>
          <a:xfrm>
            <a:off x="4334256" y="2240280"/>
            <a:ext cx="1700784" cy="1572768"/>
          </a:xfrm>
          <a:prstGeom prst="roundRect">
            <a:avLst/>
          </a:prstGeom>
          <a:solidFill>
            <a:srgbClr val="101B2D"/>
          </a:solidFill>
          <a:ln w="12700">
            <a:solidFill>
              <a:srgbClr val="29D3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 name="Oval 18"/>
          <p:cNvSpPr/>
          <p:nvPr/>
        </p:nvSpPr>
        <p:spPr>
          <a:xfrm>
            <a:off x="4480560" y="2404872"/>
            <a:ext cx="310896" cy="310896"/>
          </a:xfrm>
          <a:prstGeom prst="ellipse">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0" name="TextBox 19"/>
          <p:cNvSpPr txBox="1"/>
          <p:nvPr/>
        </p:nvSpPr>
        <p:spPr>
          <a:xfrm>
            <a:off x="4480560" y="2427732"/>
            <a:ext cx="310896" cy="201168"/>
          </a:xfrm>
          <a:prstGeom prst="rect">
            <a:avLst/>
          </a:prstGeom>
          <a:noFill/>
        </p:spPr>
        <p:txBody>
          <a:bodyPr wrap="square" lIns="36576" tIns="18288" rIns="36576" bIns="18288" anchor="t"/>
          <a:lstStyle/>
          <a:p>
            <a:pPr algn="ctr"/>
            <a:r>
              <a:rPr sz="1300" b="1">
                <a:solidFill>
                  <a:srgbClr val="060C16"/>
                </a:solidFill>
                <a:latin typeface="Aptos Mono"/>
              </a:rPr>
              <a:t>03</a:t>
            </a:r>
          </a:p>
        </p:txBody>
      </p:sp>
      <p:sp>
        <p:nvSpPr>
          <p:cNvPr id="21" name="TextBox 20"/>
          <p:cNvSpPr txBox="1"/>
          <p:nvPr/>
        </p:nvSpPr>
        <p:spPr>
          <a:xfrm>
            <a:off x="4480560" y="2898648"/>
            <a:ext cx="1408176" cy="566928"/>
          </a:xfrm>
          <a:prstGeom prst="rect">
            <a:avLst/>
          </a:prstGeom>
          <a:noFill/>
        </p:spPr>
        <p:txBody>
          <a:bodyPr wrap="square" lIns="36576" tIns="18288" rIns="36576" bIns="18288" anchor="t"/>
          <a:lstStyle/>
          <a:p>
            <a:pPr algn="ctr"/>
            <a:r>
              <a:rPr sz="1300" b="1">
                <a:solidFill>
                  <a:srgbClr val="EFF6FF"/>
                </a:solidFill>
                <a:latin typeface="Aptos"/>
              </a:rPr>
              <a:t>Threat intel
enrichment</a:t>
            </a:r>
          </a:p>
        </p:txBody>
      </p:sp>
      <p:cxnSp>
        <p:nvCxnSpPr>
          <p:cNvPr id="22" name="Connector 21"/>
          <p:cNvCxnSpPr/>
          <p:nvPr/>
        </p:nvCxnSpPr>
        <p:spPr>
          <a:xfrm>
            <a:off x="6035040" y="3026664"/>
            <a:ext cx="118872" cy="0"/>
          </a:xfrm>
          <a:prstGeom prst="line">
            <a:avLst/>
          </a:prstGeom>
          <a:ln w="25400">
            <a:solidFill>
              <a:srgbClr val="29D3FF"/>
            </a:solidFill>
          </a:ln>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6089904" y="2953512"/>
            <a:ext cx="146304" cy="146304"/>
          </a:xfrm>
          <a:prstGeom prst="triangle">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4" name="Rounded Rectangle 23"/>
          <p:cNvSpPr/>
          <p:nvPr/>
        </p:nvSpPr>
        <p:spPr>
          <a:xfrm>
            <a:off x="6181344" y="2240280"/>
            <a:ext cx="1700784" cy="1572768"/>
          </a:xfrm>
          <a:prstGeom prst="roundRect">
            <a:avLst/>
          </a:prstGeom>
          <a:solidFill>
            <a:srgbClr val="101B2D"/>
          </a:solidFill>
          <a:ln w="12700">
            <a:solidFill>
              <a:srgbClr val="4984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5" name="Oval 24"/>
          <p:cNvSpPr/>
          <p:nvPr/>
        </p:nvSpPr>
        <p:spPr>
          <a:xfrm>
            <a:off x="6327648" y="2404872"/>
            <a:ext cx="310896" cy="310896"/>
          </a:xfrm>
          <a:prstGeom prst="ellipse">
            <a:avLst/>
          </a:prstGeom>
          <a:solidFill>
            <a:srgbClr val="4984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6" name="TextBox 25"/>
          <p:cNvSpPr txBox="1"/>
          <p:nvPr/>
        </p:nvSpPr>
        <p:spPr>
          <a:xfrm>
            <a:off x="6327648" y="2427732"/>
            <a:ext cx="310896" cy="201168"/>
          </a:xfrm>
          <a:prstGeom prst="rect">
            <a:avLst/>
          </a:prstGeom>
          <a:noFill/>
        </p:spPr>
        <p:txBody>
          <a:bodyPr wrap="square" lIns="36576" tIns="18288" rIns="36576" bIns="18288" anchor="t"/>
          <a:lstStyle/>
          <a:p>
            <a:pPr algn="ctr"/>
            <a:r>
              <a:rPr sz="1300" b="1">
                <a:solidFill>
                  <a:srgbClr val="060C16"/>
                </a:solidFill>
                <a:latin typeface="Aptos Mono"/>
              </a:rPr>
              <a:t>04</a:t>
            </a:r>
          </a:p>
        </p:txBody>
      </p:sp>
      <p:sp>
        <p:nvSpPr>
          <p:cNvPr id="27" name="TextBox 26"/>
          <p:cNvSpPr txBox="1"/>
          <p:nvPr/>
        </p:nvSpPr>
        <p:spPr>
          <a:xfrm>
            <a:off x="6327648" y="2898648"/>
            <a:ext cx="1408176" cy="566928"/>
          </a:xfrm>
          <a:prstGeom prst="rect">
            <a:avLst/>
          </a:prstGeom>
          <a:noFill/>
        </p:spPr>
        <p:txBody>
          <a:bodyPr wrap="square" lIns="36576" tIns="18288" rIns="36576" bIns="18288" anchor="t"/>
          <a:lstStyle/>
          <a:p>
            <a:pPr algn="ctr"/>
            <a:r>
              <a:rPr sz="1300" b="1">
                <a:solidFill>
                  <a:srgbClr val="EFF6FF"/>
                </a:solidFill>
                <a:latin typeface="Aptos"/>
              </a:rPr>
              <a:t>Asset criticality
analysis</a:t>
            </a:r>
          </a:p>
        </p:txBody>
      </p:sp>
      <p:cxnSp>
        <p:nvCxnSpPr>
          <p:cNvPr id="28" name="Connector 27"/>
          <p:cNvCxnSpPr/>
          <p:nvPr/>
        </p:nvCxnSpPr>
        <p:spPr>
          <a:xfrm>
            <a:off x="7882128" y="3026664"/>
            <a:ext cx="118872" cy="0"/>
          </a:xfrm>
          <a:prstGeom prst="line">
            <a:avLst/>
          </a:prstGeom>
          <a:ln w="25400">
            <a:solidFill>
              <a:srgbClr val="29D3FF"/>
            </a:solidFill>
          </a:ln>
        </p:spPr>
        <p:style>
          <a:lnRef idx="2">
            <a:schemeClr val="accent1"/>
          </a:lnRef>
          <a:fillRef idx="0">
            <a:schemeClr val="accent1"/>
          </a:fillRef>
          <a:effectRef idx="1">
            <a:schemeClr val="accent1"/>
          </a:effectRef>
          <a:fontRef idx="minor">
            <a:schemeClr val="tx1"/>
          </a:fontRef>
        </p:style>
      </p:cxnSp>
      <p:sp>
        <p:nvSpPr>
          <p:cNvPr id="29" name="Isosceles Triangle 28"/>
          <p:cNvSpPr/>
          <p:nvPr/>
        </p:nvSpPr>
        <p:spPr>
          <a:xfrm rot="5400000">
            <a:off x="7936992" y="2953512"/>
            <a:ext cx="146304" cy="146304"/>
          </a:xfrm>
          <a:prstGeom prst="triangle">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0" name="Rounded Rectangle 29"/>
          <p:cNvSpPr/>
          <p:nvPr/>
        </p:nvSpPr>
        <p:spPr>
          <a:xfrm>
            <a:off x="8028431" y="2240280"/>
            <a:ext cx="1700784" cy="1572768"/>
          </a:xfrm>
          <a:prstGeom prst="roundRect">
            <a:avLst/>
          </a:prstGeom>
          <a:solidFill>
            <a:srgbClr val="101B2D"/>
          </a:solidFill>
          <a:ln w="12700">
            <a:solidFill>
              <a:srgbClr val="FF994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1" name="Oval 30"/>
          <p:cNvSpPr/>
          <p:nvPr/>
        </p:nvSpPr>
        <p:spPr>
          <a:xfrm>
            <a:off x="8174736" y="2404872"/>
            <a:ext cx="310896" cy="310896"/>
          </a:xfrm>
          <a:prstGeom prst="ellipse">
            <a:avLst/>
          </a:prstGeom>
          <a:solidFill>
            <a:srgbClr val="FF9948"/>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2" name="TextBox 31"/>
          <p:cNvSpPr txBox="1"/>
          <p:nvPr/>
        </p:nvSpPr>
        <p:spPr>
          <a:xfrm>
            <a:off x="8174736" y="2427732"/>
            <a:ext cx="310896" cy="201168"/>
          </a:xfrm>
          <a:prstGeom prst="rect">
            <a:avLst/>
          </a:prstGeom>
          <a:noFill/>
        </p:spPr>
        <p:txBody>
          <a:bodyPr wrap="square" lIns="36576" tIns="18288" rIns="36576" bIns="18288" anchor="t"/>
          <a:lstStyle/>
          <a:p>
            <a:pPr algn="ctr"/>
            <a:r>
              <a:rPr sz="1300" b="1">
                <a:solidFill>
                  <a:srgbClr val="060C16"/>
                </a:solidFill>
                <a:latin typeface="Aptos Mono"/>
              </a:rPr>
              <a:t>05</a:t>
            </a:r>
          </a:p>
        </p:txBody>
      </p:sp>
      <p:sp>
        <p:nvSpPr>
          <p:cNvPr id="33" name="TextBox 32"/>
          <p:cNvSpPr txBox="1"/>
          <p:nvPr/>
        </p:nvSpPr>
        <p:spPr>
          <a:xfrm>
            <a:off x="8174736" y="2898648"/>
            <a:ext cx="1408176" cy="566928"/>
          </a:xfrm>
          <a:prstGeom prst="rect">
            <a:avLst/>
          </a:prstGeom>
          <a:noFill/>
        </p:spPr>
        <p:txBody>
          <a:bodyPr wrap="square" lIns="36576" tIns="18288" rIns="36576" bIns="18288" anchor="t"/>
          <a:lstStyle/>
          <a:p>
            <a:pPr algn="ctr"/>
            <a:r>
              <a:rPr sz="1300" b="1">
                <a:solidFill>
                  <a:srgbClr val="EFF6FF"/>
                </a:solidFill>
                <a:latin typeface="Aptos"/>
              </a:rPr>
              <a:t>Risk scoring +
correlation</a:t>
            </a:r>
          </a:p>
        </p:txBody>
      </p:sp>
      <p:cxnSp>
        <p:nvCxnSpPr>
          <p:cNvPr id="34" name="Connector 33"/>
          <p:cNvCxnSpPr/>
          <p:nvPr/>
        </p:nvCxnSpPr>
        <p:spPr>
          <a:xfrm>
            <a:off x="9729215" y="3026664"/>
            <a:ext cx="118873" cy="0"/>
          </a:xfrm>
          <a:prstGeom prst="line">
            <a:avLst/>
          </a:prstGeom>
          <a:ln w="25400">
            <a:solidFill>
              <a:srgbClr val="29D3FF"/>
            </a:solidFill>
          </a:ln>
        </p:spPr>
        <p:style>
          <a:lnRef idx="2">
            <a:schemeClr val="accent1"/>
          </a:lnRef>
          <a:fillRef idx="0">
            <a:schemeClr val="accent1"/>
          </a:fillRef>
          <a:effectRef idx="1">
            <a:schemeClr val="accent1"/>
          </a:effectRef>
          <a:fontRef idx="minor">
            <a:schemeClr val="tx1"/>
          </a:fontRef>
        </p:style>
      </p:cxnSp>
      <p:sp>
        <p:nvSpPr>
          <p:cNvPr id="35" name="Isosceles Triangle 34"/>
          <p:cNvSpPr/>
          <p:nvPr/>
        </p:nvSpPr>
        <p:spPr>
          <a:xfrm rot="5400000">
            <a:off x="9784080" y="2953512"/>
            <a:ext cx="146304" cy="146304"/>
          </a:xfrm>
          <a:prstGeom prst="triangle">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6" name="Rounded Rectangle 35"/>
          <p:cNvSpPr/>
          <p:nvPr/>
        </p:nvSpPr>
        <p:spPr>
          <a:xfrm>
            <a:off x="9875519" y="2240280"/>
            <a:ext cx="1700784" cy="1572768"/>
          </a:xfrm>
          <a:prstGeom prst="roundRect">
            <a:avLst/>
          </a:prstGeom>
          <a:solidFill>
            <a:srgbClr val="101B2D"/>
          </a:solidFill>
          <a:ln w="12700">
            <a:solidFill>
              <a:srgbClr val="FF4A4A"/>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7" name="Oval 36"/>
          <p:cNvSpPr/>
          <p:nvPr/>
        </p:nvSpPr>
        <p:spPr>
          <a:xfrm>
            <a:off x="10021824" y="2404872"/>
            <a:ext cx="310896" cy="310896"/>
          </a:xfrm>
          <a:prstGeom prst="ellipse">
            <a:avLst/>
          </a:prstGeom>
          <a:solidFill>
            <a:srgbClr val="FF4A4A"/>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8" name="TextBox 37"/>
          <p:cNvSpPr txBox="1"/>
          <p:nvPr/>
        </p:nvSpPr>
        <p:spPr>
          <a:xfrm>
            <a:off x="10021824" y="2427732"/>
            <a:ext cx="310896" cy="201168"/>
          </a:xfrm>
          <a:prstGeom prst="rect">
            <a:avLst/>
          </a:prstGeom>
          <a:noFill/>
        </p:spPr>
        <p:txBody>
          <a:bodyPr wrap="square" lIns="36576" tIns="18288" rIns="36576" bIns="18288" anchor="t"/>
          <a:lstStyle/>
          <a:p>
            <a:pPr algn="ctr"/>
            <a:r>
              <a:rPr sz="1300" b="1">
                <a:solidFill>
                  <a:srgbClr val="060C16"/>
                </a:solidFill>
                <a:latin typeface="Aptos Mono"/>
              </a:rPr>
              <a:t>06</a:t>
            </a:r>
          </a:p>
        </p:txBody>
      </p:sp>
      <p:sp>
        <p:nvSpPr>
          <p:cNvPr id="39" name="TextBox 38"/>
          <p:cNvSpPr txBox="1"/>
          <p:nvPr/>
        </p:nvSpPr>
        <p:spPr>
          <a:xfrm>
            <a:off x="10021824" y="2898648"/>
            <a:ext cx="1408176" cy="566928"/>
          </a:xfrm>
          <a:prstGeom prst="rect">
            <a:avLst/>
          </a:prstGeom>
          <a:noFill/>
        </p:spPr>
        <p:txBody>
          <a:bodyPr wrap="square" lIns="36576" tIns="18288" rIns="36576" bIns="18288" anchor="t"/>
          <a:lstStyle/>
          <a:p>
            <a:pPr algn="ctr"/>
            <a:r>
              <a:rPr sz="1300" b="1">
                <a:solidFill>
                  <a:srgbClr val="EFF6FF"/>
                </a:solidFill>
                <a:latin typeface="Aptos"/>
              </a:rPr>
              <a:t>AI explanation +
investigation steps</a:t>
            </a:r>
          </a:p>
        </p:txBody>
      </p:sp>
      <p:sp>
        <p:nvSpPr>
          <p:cNvPr id="40" name="Rounded Rectangle 39"/>
          <p:cNvSpPr/>
          <p:nvPr/>
        </p:nvSpPr>
        <p:spPr>
          <a:xfrm>
            <a:off x="640080" y="4224528"/>
            <a:ext cx="10927080" cy="1353312"/>
          </a:xfrm>
          <a:prstGeom prst="roundRect">
            <a:avLst/>
          </a:prstGeom>
          <a:solidFill>
            <a:srgbClr val="060C16"/>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1" name="TextBox 40"/>
          <p:cNvSpPr txBox="1"/>
          <p:nvPr/>
        </p:nvSpPr>
        <p:spPr>
          <a:xfrm>
            <a:off x="896112" y="4434840"/>
            <a:ext cx="2377440" cy="182880"/>
          </a:xfrm>
          <a:prstGeom prst="rect">
            <a:avLst/>
          </a:prstGeom>
          <a:noFill/>
        </p:spPr>
        <p:txBody>
          <a:bodyPr wrap="square" lIns="36576" tIns="18288" rIns="36576" bIns="18288" anchor="t"/>
          <a:lstStyle/>
          <a:p>
            <a:pPr algn="l"/>
            <a:r>
              <a:rPr sz="1300" b="1">
                <a:solidFill>
                  <a:srgbClr val="29D3FF"/>
                </a:solidFill>
                <a:latin typeface="Aptos Mono"/>
              </a:rPr>
              <a:t>PRIORITISED ALERT QUEUE</a:t>
            </a:r>
          </a:p>
        </p:txBody>
      </p:sp>
      <p:sp>
        <p:nvSpPr>
          <p:cNvPr id="42" name="Rounded Rectangle 41"/>
          <p:cNvSpPr/>
          <p:nvPr/>
        </p:nvSpPr>
        <p:spPr>
          <a:xfrm>
            <a:off x="3703320" y="4416552"/>
            <a:ext cx="1024128" cy="274320"/>
          </a:xfrm>
          <a:prstGeom prst="roundRect">
            <a:avLst/>
          </a:prstGeom>
          <a:solidFill>
            <a:srgbClr val="142338"/>
          </a:solidFill>
          <a:ln w="12700">
            <a:solidFill>
              <a:srgbClr val="FF4A4A"/>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3" name="TextBox 42"/>
          <p:cNvSpPr txBox="1"/>
          <p:nvPr/>
        </p:nvSpPr>
        <p:spPr>
          <a:xfrm>
            <a:off x="3703320" y="4430268"/>
            <a:ext cx="1024128" cy="228600"/>
          </a:xfrm>
          <a:prstGeom prst="rect">
            <a:avLst/>
          </a:prstGeom>
          <a:noFill/>
        </p:spPr>
        <p:txBody>
          <a:bodyPr wrap="square" lIns="36576" tIns="18288" rIns="36576" bIns="18288" anchor="ctr"/>
          <a:lstStyle/>
          <a:p>
            <a:pPr algn="ctr"/>
            <a:r>
              <a:rPr sz="1300" b="1">
                <a:solidFill>
                  <a:srgbClr val="FF4A4A"/>
                </a:solidFill>
                <a:latin typeface="Aptos Mono"/>
              </a:rPr>
              <a:t>CRITICAL</a:t>
            </a:r>
          </a:p>
        </p:txBody>
      </p:sp>
      <p:sp>
        <p:nvSpPr>
          <p:cNvPr id="44" name="TextBox 43"/>
          <p:cNvSpPr txBox="1"/>
          <p:nvPr/>
        </p:nvSpPr>
        <p:spPr>
          <a:xfrm>
            <a:off x="3703320" y="4828032"/>
            <a:ext cx="1024128" cy="256032"/>
          </a:xfrm>
          <a:prstGeom prst="rect">
            <a:avLst/>
          </a:prstGeom>
          <a:noFill/>
        </p:spPr>
        <p:txBody>
          <a:bodyPr wrap="square" lIns="36576" tIns="18288" rIns="36576" bIns="18288" anchor="t"/>
          <a:lstStyle/>
          <a:p>
            <a:pPr algn="ctr"/>
            <a:r>
              <a:rPr sz="1600" b="1">
                <a:solidFill>
                  <a:srgbClr val="EFF6FF"/>
                </a:solidFill>
                <a:latin typeface="Aptos Mono"/>
              </a:rPr>
              <a:t>92</a:t>
            </a:r>
          </a:p>
        </p:txBody>
      </p:sp>
      <p:sp>
        <p:nvSpPr>
          <p:cNvPr id="45" name="Rounded Rectangle 44"/>
          <p:cNvSpPr/>
          <p:nvPr/>
        </p:nvSpPr>
        <p:spPr>
          <a:xfrm>
            <a:off x="5486400" y="4416552"/>
            <a:ext cx="1024128" cy="274320"/>
          </a:xfrm>
          <a:prstGeom prst="roundRect">
            <a:avLst/>
          </a:prstGeom>
          <a:solidFill>
            <a:srgbClr val="142338"/>
          </a:solidFill>
          <a:ln w="12700">
            <a:solidFill>
              <a:srgbClr val="FF994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6" name="TextBox 45"/>
          <p:cNvSpPr txBox="1"/>
          <p:nvPr/>
        </p:nvSpPr>
        <p:spPr>
          <a:xfrm>
            <a:off x="5486400" y="4430268"/>
            <a:ext cx="1024128" cy="228600"/>
          </a:xfrm>
          <a:prstGeom prst="rect">
            <a:avLst/>
          </a:prstGeom>
          <a:noFill/>
        </p:spPr>
        <p:txBody>
          <a:bodyPr wrap="square" lIns="36576" tIns="18288" rIns="36576" bIns="18288" anchor="ctr"/>
          <a:lstStyle/>
          <a:p>
            <a:pPr algn="ctr"/>
            <a:r>
              <a:rPr sz="1300" b="1">
                <a:solidFill>
                  <a:srgbClr val="FF9948"/>
                </a:solidFill>
                <a:latin typeface="Aptos Mono"/>
              </a:rPr>
              <a:t>HIGH</a:t>
            </a:r>
          </a:p>
        </p:txBody>
      </p:sp>
      <p:sp>
        <p:nvSpPr>
          <p:cNvPr id="47" name="TextBox 46"/>
          <p:cNvSpPr txBox="1"/>
          <p:nvPr/>
        </p:nvSpPr>
        <p:spPr>
          <a:xfrm>
            <a:off x="5486400" y="4828032"/>
            <a:ext cx="1024128" cy="256032"/>
          </a:xfrm>
          <a:prstGeom prst="rect">
            <a:avLst/>
          </a:prstGeom>
          <a:noFill/>
        </p:spPr>
        <p:txBody>
          <a:bodyPr wrap="square" lIns="36576" tIns="18288" rIns="36576" bIns="18288" anchor="t"/>
          <a:lstStyle/>
          <a:p>
            <a:pPr algn="ctr"/>
            <a:r>
              <a:rPr sz="1600" b="1">
                <a:solidFill>
                  <a:srgbClr val="EFF6FF"/>
                </a:solidFill>
                <a:latin typeface="Aptos Mono"/>
              </a:rPr>
              <a:t>78</a:t>
            </a:r>
          </a:p>
        </p:txBody>
      </p:sp>
      <p:sp>
        <p:nvSpPr>
          <p:cNvPr id="48" name="Rounded Rectangle 47"/>
          <p:cNvSpPr/>
          <p:nvPr/>
        </p:nvSpPr>
        <p:spPr>
          <a:xfrm>
            <a:off x="7269479" y="4416552"/>
            <a:ext cx="1024128" cy="274320"/>
          </a:xfrm>
          <a:prstGeom prst="roundRect">
            <a:avLst/>
          </a:prstGeom>
          <a:solidFill>
            <a:srgbClr val="142338"/>
          </a:solidFill>
          <a:ln w="12700">
            <a:solidFill>
              <a:srgbClr val="FF994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9" name="TextBox 48"/>
          <p:cNvSpPr txBox="1"/>
          <p:nvPr/>
        </p:nvSpPr>
        <p:spPr>
          <a:xfrm>
            <a:off x="7269479" y="4430268"/>
            <a:ext cx="1024128" cy="228600"/>
          </a:xfrm>
          <a:prstGeom prst="rect">
            <a:avLst/>
          </a:prstGeom>
          <a:noFill/>
        </p:spPr>
        <p:txBody>
          <a:bodyPr wrap="square" lIns="36576" tIns="18288" rIns="36576" bIns="18288" anchor="ctr"/>
          <a:lstStyle/>
          <a:p>
            <a:pPr algn="ctr"/>
            <a:r>
              <a:rPr sz="1300" b="1">
                <a:solidFill>
                  <a:srgbClr val="FF9948"/>
                </a:solidFill>
                <a:latin typeface="Aptos Mono"/>
              </a:rPr>
              <a:t>HIGH</a:t>
            </a:r>
          </a:p>
        </p:txBody>
      </p:sp>
      <p:sp>
        <p:nvSpPr>
          <p:cNvPr id="50" name="TextBox 49"/>
          <p:cNvSpPr txBox="1"/>
          <p:nvPr/>
        </p:nvSpPr>
        <p:spPr>
          <a:xfrm>
            <a:off x="7269479" y="4828032"/>
            <a:ext cx="1024128" cy="256032"/>
          </a:xfrm>
          <a:prstGeom prst="rect">
            <a:avLst/>
          </a:prstGeom>
          <a:noFill/>
        </p:spPr>
        <p:txBody>
          <a:bodyPr wrap="square" lIns="36576" tIns="18288" rIns="36576" bIns="18288" anchor="t"/>
          <a:lstStyle/>
          <a:p>
            <a:pPr algn="ctr"/>
            <a:r>
              <a:rPr sz="1600" b="1">
                <a:solidFill>
                  <a:srgbClr val="EFF6FF"/>
                </a:solidFill>
                <a:latin typeface="Aptos Mono"/>
              </a:rPr>
              <a:t>71</a:t>
            </a:r>
          </a:p>
        </p:txBody>
      </p:sp>
      <p:sp>
        <p:nvSpPr>
          <p:cNvPr id="51" name="Rounded Rectangle 50"/>
          <p:cNvSpPr/>
          <p:nvPr/>
        </p:nvSpPr>
        <p:spPr>
          <a:xfrm>
            <a:off x="9052559" y="4416552"/>
            <a:ext cx="1024128" cy="274320"/>
          </a:xfrm>
          <a:prstGeom prst="roundRect">
            <a:avLst/>
          </a:prstGeom>
          <a:solidFill>
            <a:srgbClr val="142338"/>
          </a:solidFill>
          <a:ln w="12700">
            <a:solidFill>
              <a:srgbClr val="29D3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52" name="TextBox 51"/>
          <p:cNvSpPr txBox="1"/>
          <p:nvPr/>
        </p:nvSpPr>
        <p:spPr>
          <a:xfrm>
            <a:off x="9052559" y="4430268"/>
            <a:ext cx="1024128" cy="228600"/>
          </a:xfrm>
          <a:prstGeom prst="rect">
            <a:avLst/>
          </a:prstGeom>
          <a:noFill/>
        </p:spPr>
        <p:txBody>
          <a:bodyPr wrap="square" lIns="36576" tIns="18288" rIns="36576" bIns="18288" anchor="ctr"/>
          <a:lstStyle/>
          <a:p>
            <a:pPr algn="ctr"/>
            <a:r>
              <a:rPr sz="1300" b="1">
                <a:solidFill>
                  <a:srgbClr val="29D3FF"/>
                </a:solidFill>
                <a:latin typeface="Aptos Mono"/>
              </a:rPr>
              <a:t>MEDIUM</a:t>
            </a:r>
          </a:p>
        </p:txBody>
      </p:sp>
      <p:sp>
        <p:nvSpPr>
          <p:cNvPr id="53" name="TextBox 52"/>
          <p:cNvSpPr txBox="1"/>
          <p:nvPr/>
        </p:nvSpPr>
        <p:spPr>
          <a:xfrm>
            <a:off x="9052559" y="4828032"/>
            <a:ext cx="1024128" cy="256032"/>
          </a:xfrm>
          <a:prstGeom prst="rect">
            <a:avLst/>
          </a:prstGeom>
          <a:noFill/>
        </p:spPr>
        <p:txBody>
          <a:bodyPr wrap="square" lIns="36576" tIns="18288" rIns="36576" bIns="18288" anchor="t"/>
          <a:lstStyle/>
          <a:p>
            <a:pPr algn="ctr"/>
            <a:r>
              <a:rPr sz="1600" b="1">
                <a:solidFill>
                  <a:srgbClr val="EFF6FF"/>
                </a:solidFill>
                <a:latin typeface="Aptos Mono"/>
              </a:rPr>
              <a:t>46</a:t>
            </a:r>
          </a:p>
        </p:txBody>
      </p:sp>
      <p:sp>
        <p:nvSpPr>
          <p:cNvPr id="54" name="TextBox 53"/>
          <p:cNvSpPr txBox="1"/>
          <p:nvPr/>
        </p:nvSpPr>
        <p:spPr>
          <a:xfrm>
            <a:off x="868680" y="5276088"/>
            <a:ext cx="9966960" cy="219456"/>
          </a:xfrm>
          <a:prstGeom prst="rect">
            <a:avLst/>
          </a:prstGeom>
          <a:noFill/>
        </p:spPr>
        <p:txBody>
          <a:bodyPr wrap="square" lIns="36576" tIns="18288" rIns="36576" bIns="18288" anchor="t"/>
          <a:lstStyle/>
          <a:p>
            <a:pPr algn="ctr"/>
            <a:r>
              <a:rPr sz="1400" b="1">
                <a:solidFill>
                  <a:srgbClr val="EFF6FF"/>
                </a:solidFill>
                <a:latin typeface="Aptos"/>
              </a:rPr>
              <a:t>Critical alerts rise to the top with evidence already prepared.</a:t>
            </a:r>
          </a:p>
        </p:txBody>
      </p:sp>
      <p:sp>
        <p:nvSpPr>
          <p:cNvPr id="55" name="TextBox 54"/>
          <p:cNvSpPr txBox="1"/>
          <p:nvPr/>
        </p:nvSpPr>
        <p:spPr>
          <a:xfrm>
            <a:off x="621792" y="6547104"/>
            <a:ext cx="6400800" cy="164592"/>
          </a:xfrm>
          <a:prstGeom prst="rect">
            <a:avLst/>
          </a:prstGeom>
          <a:noFill/>
        </p:spPr>
        <p:txBody>
          <a:bodyPr wrap="square" lIns="36576" tIns="18288" rIns="36576" bIns="18288" anchor="t"/>
          <a:lstStyle/>
          <a:p>
            <a:pPr algn="l"/>
            <a:r>
              <a:rPr sz="1300" b="1">
                <a:solidFill>
                  <a:srgbClr val="9CAEC6"/>
                </a:solidFill>
                <a:latin typeface="Aptos Mono"/>
              </a:rPr>
              <a:t>THREATNEXUS  /  AI SECURITY OPERATIONS</a:t>
            </a:r>
          </a:p>
        </p:txBody>
      </p:sp>
      <p:sp>
        <p:nvSpPr>
          <p:cNvPr id="56" name="TextBox 55"/>
          <p:cNvSpPr txBox="1"/>
          <p:nvPr/>
        </p:nvSpPr>
        <p:spPr>
          <a:xfrm>
            <a:off x="11064240" y="6510528"/>
            <a:ext cx="502920" cy="201168"/>
          </a:xfrm>
          <a:prstGeom prst="rect">
            <a:avLst/>
          </a:prstGeom>
          <a:noFill/>
        </p:spPr>
        <p:txBody>
          <a:bodyPr wrap="square" lIns="36576" tIns="18288" rIns="36576" bIns="18288" anchor="t"/>
          <a:lstStyle/>
          <a:p>
            <a:pPr algn="r"/>
            <a:r>
              <a:rPr sz="1300" b="1">
                <a:solidFill>
                  <a:srgbClr val="9CAEC6"/>
                </a:solidFill>
                <a:latin typeface="Aptos Mono"/>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101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 name="TextBox 2"/>
          <p:cNvSpPr txBox="1"/>
          <p:nvPr/>
        </p:nvSpPr>
        <p:spPr>
          <a:xfrm>
            <a:off x="594360" y="347472"/>
            <a:ext cx="2926080" cy="228600"/>
          </a:xfrm>
          <a:prstGeom prst="rect">
            <a:avLst/>
          </a:prstGeom>
          <a:noFill/>
        </p:spPr>
        <p:txBody>
          <a:bodyPr wrap="square" lIns="36576" tIns="18288" rIns="36576" bIns="18288" anchor="t"/>
          <a:lstStyle/>
          <a:p>
            <a:pPr algn="l"/>
            <a:r>
              <a:rPr sz="1300" b="1">
                <a:solidFill>
                  <a:srgbClr val="29D3FF"/>
                </a:solidFill>
                <a:latin typeface="Aptos Mono"/>
              </a:rPr>
              <a:t>03 / RISK ENGINE</a:t>
            </a:r>
          </a:p>
        </p:txBody>
      </p:sp>
      <p:sp>
        <p:nvSpPr>
          <p:cNvPr id="4" name="TextBox 3"/>
          <p:cNvSpPr txBox="1"/>
          <p:nvPr/>
        </p:nvSpPr>
        <p:spPr>
          <a:xfrm>
            <a:off x="594360" y="658368"/>
            <a:ext cx="10972800" cy="566928"/>
          </a:xfrm>
          <a:prstGeom prst="rect">
            <a:avLst/>
          </a:prstGeom>
          <a:noFill/>
        </p:spPr>
        <p:txBody>
          <a:bodyPr wrap="square" lIns="36576" tIns="18288" rIns="36576" bIns="18288" anchor="t"/>
          <a:lstStyle/>
          <a:p>
            <a:pPr algn="l"/>
            <a:r>
              <a:rPr sz="2800" b="1">
                <a:solidFill>
                  <a:srgbClr val="EFF6FF"/>
                </a:solidFill>
                <a:latin typeface="Aptos"/>
              </a:rPr>
              <a:t>Context-Aware Risk Scoring</a:t>
            </a:r>
          </a:p>
        </p:txBody>
      </p:sp>
      <p:sp>
        <p:nvSpPr>
          <p:cNvPr id="5" name="TextBox 4"/>
          <p:cNvSpPr txBox="1"/>
          <p:nvPr/>
        </p:nvSpPr>
        <p:spPr>
          <a:xfrm>
            <a:off x="621792" y="1307592"/>
            <a:ext cx="10789920" cy="384048"/>
          </a:xfrm>
          <a:prstGeom prst="rect">
            <a:avLst/>
          </a:prstGeom>
          <a:noFill/>
        </p:spPr>
        <p:txBody>
          <a:bodyPr wrap="square" lIns="36576" tIns="18288" rIns="36576" bIns="18288" anchor="t"/>
          <a:lstStyle/>
          <a:p>
            <a:pPr algn="l"/>
            <a:r>
              <a:rPr sz="1400" b="1">
                <a:solidFill>
                  <a:srgbClr val="EFF6FF"/>
                </a:solidFill>
                <a:latin typeface="Aptos"/>
              </a:rPr>
              <a:t>The same alert can have different importance depending on context.</a:t>
            </a:r>
          </a:p>
        </p:txBody>
      </p:sp>
      <p:sp>
        <p:nvSpPr>
          <p:cNvPr id="6" name="Rounded Rectangle 5"/>
          <p:cNvSpPr/>
          <p:nvPr/>
        </p:nvSpPr>
        <p:spPr>
          <a:xfrm>
            <a:off x="640080" y="1874519"/>
            <a:ext cx="5486400" cy="3611880"/>
          </a:xfrm>
          <a:prstGeom prst="roundRect">
            <a:avLst/>
          </a:prstGeom>
          <a:solidFill>
            <a:srgbClr val="101B2D"/>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7" name="TextBox 6"/>
          <p:cNvSpPr txBox="1"/>
          <p:nvPr/>
        </p:nvSpPr>
        <p:spPr>
          <a:xfrm>
            <a:off x="896112" y="2103120"/>
            <a:ext cx="2560320" cy="182880"/>
          </a:xfrm>
          <a:prstGeom prst="rect">
            <a:avLst/>
          </a:prstGeom>
          <a:noFill/>
        </p:spPr>
        <p:txBody>
          <a:bodyPr wrap="square" lIns="36576" tIns="18288" rIns="36576" bIns="18288" anchor="t"/>
          <a:lstStyle/>
          <a:p>
            <a:pPr algn="l"/>
            <a:r>
              <a:rPr sz="1300" b="1">
                <a:solidFill>
                  <a:srgbClr val="29D3FF"/>
                </a:solidFill>
                <a:latin typeface="Aptos Mono"/>
              </a:rPr>
              <a:t>RISK SCORE  /  0—100</a:t>
            </a:r>
          </a:p>
        </p:txBody>
      </p:sp>
      <p:sp>
        <p:nvSpPr>
          <p:cNvPr id="8" name="TextBox 7"/>
          <p:cNvSpPr txBox="1"/>
          <p:nvPr/>
        </p:nvSpPr>
        <p:spPr>
          <a:xfrm>
            <a:off x="896112" y="2542032"/>
            <a:ext cx="1737360" cy="201168"/>
          </a:xfrm>
          <a:prstGeom prst="rect">
            <a:avLst/>
          </a:prstGeom>
          <a:noFill/>
        </p:spPr>
        <p:txBody>
          <a:bodyPr wrap="square" lIns="36576" tIns="18288" rIns="36576" bIns="18288" anchor="t"/>
          <a:lstStyle/>
          <a:p>
            <a:pPr algn="l"/>
            <a:r>
              <a:rPr sz="1400" b="1">
                <a:solidFill>
                  <a:srgbClr val="EFF6FF"/>
                </a:solidFill>
                <a:latin typeface="Aptos"/>
              </a:rPr>
              <a:t>IOC reputation</a:t>
            </a:r>
          </a:p>
        </p:txBody>
      </p:sp>
      <p:sp>
        <p:nvSpPr>
          <p:cNvPr id="9" name="TextBox 8"/>
          <p:cNvSpPr txBox="1"/>
          <p:nvPr/>
        </p:nvSpPr>
        <p:spPr>
          <a:xfrm>
            <a:off x="5321808" y="2542032"/>
            <a:ext cx="475488" cy="201168"/>
          </a:xfrm>
          <a:prstGeom prst="rect">
            <a:avLst/>
          </a:prstGeom>
          <a:noFill/>
        </p:spPr>
        <p:txBody>
          <a:bodyPr wrap="square" lIns="36576" tIns="18288" rIns="36576" bIns="18288" anchor="t"/>
          <a:lstStyle/>
          <a:p>
            <a:pPr algn="r"/>
            <a:r>
              <a:rPr sz="1300" b="1">
                <a:solidFill>
                  <a:srgbClr val="FF4A4A"/>
                </a:solidFill>
                <a:latin typeface="Aptos Mono"/>
              </a:rPr>
              <a:t>35%</a:t>
            </a:r>
          </a:p>
        </p:txBody>
      </p:sp>
      <p:sp>
        <p:nvSpPr>
          <p:cNvPr id="10" name="Rectangle 9"/>
          <p:cNvSpPr/>
          <p:nvPr/>
        </p:nvSpPr>
        <p:spPr>
          <a:xfrm>
            <a:off x="2724912" y="2578608"/>
            <a:ext cx="2331720" cy="109728"/>
          </a:xfrm>
          <a:prstGeom prst="rect">
            <a:avLst/>
          </a:prstGeom>
          <a:solidFill>
            <a:srgbClr val="1E314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 name="Rectangle 10"/>
          <p:cNvSpPr/>
          <p:nvPr/>
        </p:nvSpPr>
        <p:spPr>
          <a:xfrm>
            <a:off x="2724912" y="2578608"/>
            <a:ext cx="2331720" cy="109728"/>
          </a:xfrm>
          <a:prstGeom prst="rect">
            <a:avLst/>
          </a:prstGeom>
          <a:solidFill>
            <a:srgbClr val="FF4A4A"/>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 name="TextBox 11"/>
          <p:cNvSpPr txBox="1"/>
          <p:nvPr/>
        </p:nvSpPr>
        <p:spPr>
          <a:xfrm>
            <a:off x="896112" y="3063239"/>
            <a:ext cx="1737360" cy="201168"/>
          </a:xfrm>
          <a:prstGeom prst="rect">
            <a:avLst/>
          </a:prstGeom>
          <a:noFill/>
        </p:spPr>
        <p:txBody>
          <a:bodyPr wrap="square" lIns="36576" tIns="18288" rIns="36576" bIns="18288" anchor="t"/>
          <a:lstStyle/>
          <a:p>
            <a:pPr algn="l"/>
            <a:r>
              <a:rPr sz="1400" b="1">
                <a:solidFill>
                  <a:srgbClr val="EFF6FF"/>
                </a:solidFill>
                <a:latin typeface="Aptos"/>
              </a:rPr>
              <a:t>Asset criticality</a:t>
            </a:r>
          </a:p>
        </p:txBody>
      </p:sp>
      <p:sp>
        <p:nvSpPr>
          <p:cNvPr id="13" name="TextBox 12"/>
          <p:cNvSpPr txBox="1"/>
          <p:nvPr/>
        </p:nvSpPr>
        <p:spPr>
          <a:xfrm>
            <a:off x="5321808" y="3063239"/>
            <a:ext cx="475488" cy="201168"/>
          </a:xfrm>
          <a:prstGeom prst="rect">
            <a:avLst/>
          </a:prstGeom>
          <a:noFill/>
        </p:spPr>
        <p:txBody>
          <a:bodyPr wrap="square" lIns="36576" tIns="18288" rIns="36576" bIns="18288" anchor="t"/>
          <a:lstStyle/>
          <a:p>
            <a:pPr algn="r"/>
            <a:r>
              <a:rPr sz="1300" b="1">
                <a:solidFill>
                  <a:srgbClr val="FF9948"/>
                </a:solidFill>
                <a:latin typeface="Aptos Mono"/>
              </a:rPr>
              <a:t>25%</a:t>
            </a:r>
          </a:p>
        </p:txBody>
      </p:sp>
      <p:sp>
        <p:nvSpPr>
          <p:cNvPr id="14" name="Rectangle 13"/>
          <p:cNvSpPr/>
          <p:nvPr/>
        </p:nvSpPr>
        <p:spPr>
          <a:xfrm>
            <a:off x="2724912" y="3099815"/>
            <a:ext cx="2331720" cy="109728"/>
          </a:xfrm>
          <a:prstGeom prst="rect">
            <a:avLst/>
          </a:prstGeom>
          <a:solidFill>
            <a:srgbClr val="1E314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 name="Rectangle 14"/>
          <p:cNvSpPr/>
          <p:nvPr/>
        </p:nvSpPr>
        <p:spPr>
          <a:xfrm>
            <a:off x="2724912" y="3099815"/>
            <a:ext cx="1665514" cy="109728"/>
          </a:xfrm>
          <a:prstGeom prst="rect">
            <a:avLst/>
          </a:prstGeom>
          <a:solidFill>
            <a:srgbClr val="FF9948"/>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 name="TextBox 15"/>
          <p:cNvSpPr txBox="1"/>
          <p:nvPr/>
        </p:nvSpPr>
        <p:spPr>
          <a:xfrm>
            <a:off x="896112" y="3584447"/>
            <a:ext cx="1737360" cy="201168"/>
          </a:xfrm>
          <a:prstGeom prst="rect">
            <a:avLst/>
          </a:prstGeom>
          <a:noFill/>
        </p:spPr>
        <p:txBody>
          <a:bodyPr wrap="square" lIns="36576" tIns="18288" rIns="36576" bIns="18288" anchor="t"/>
          <a:lstStyle/>
          <a:p>
            <a:pPr algn="l"/>
            <a:r>
              <a:rPr sz="1400" b="1">
                <a:solidFill>
                  <a:srgbClr val="EFF6FF"/>
                </a:solidFill>
                <a:latin typeface="Aptos"/>
              </a:rPr>
              <a:t>Source severity</a:t>
            </a:r>
          </a:p>
        </p:txBody>
      </p:sp>
      <p:sp>
        <p:nvSpPr>
          <p:cNvPr id="17" name="TextBox 16"/>
          <p:cNvSpPr txBox="1"/>
          <p:nvPr/>
        </p:nvSpPr>
        <p:spPr>
          <a:xfrm>
            <a:off x="5321808" y="3584447"/>
            <a:ext cx="475488" cy="201168"/>
          </a:xfrm>
          <a:prstGeom prst="rect">
            <a:avLst/>
          </a:prstGeom>
          <a:noFill/>
        </p:spPr>
        <p:txBody>
          <a:bodyPr wrap="square" lIns="36576" tIns="18288" rIns="36576" bIns="18288" anchor="t"/>
          <a:lstStyle/>
          <a:p>
            <a:pPr algn="r"/>
            <a:r>
              <a:rPr sz="1300" b="1">
                <a:solidFill>
                  <a:srgbClr val="4984FF"/>
                </a:solidFill>
                <a:latin typeface="Aptos Mono"/>
              </a:rPr>
              <a:t>20%</a:t>
            </a:r>
          </a:p>
        </p:txBody>
      </p:sp>
      <p:sp>
        <p:nvSpPr>
          <p:cNvPr id="18" name="Rectangle 17"/>
          <p:cNvSpPr/>
          <p:nvPr/>
        </p:nvSpPr>
        <p:spPr>
          <a:xfrm>
            <a:off x="2724912" y="3621023"/>
            <a:ext cx="2331720" cy="109728"/>
          </a:xfrm>
          <a:prstGeom prst="rect">
            <a:avLst/>
          </a:prstGeom>
          <a:solidFill>
            <a:srgbClr val="1E314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 name="Rectangle 18"/>
          <p:cNvSpPr/>
          <p:nvPr/>
        </p:nvSpPr>
        <p:spPr>
          <a:xfrm>
            <a:off x="2724912" y="3621023"/>
            <a:ext cx="1332411" cy="109728"/>
          </a:xfrm>
          <a:prstGeom prst="rect">
            <a:avLst/>
          </a:prstGeom>
          <a:solidFill>
            <a:srgbClr val="4984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0" name="TextBox 19"/>
          <p:cNvSpPr txBox="1"/>
          <p:nvPr/>
        </p:nvSpPr>
        <p:spPr>
          <a:xfrm>
            <a:off x="896112" y="4105655"/>
            <a:ext cx="1737360" cy="201168"/>
          </a:xfrm>
          <a:prstGeom prst="rect">
            <a:avLst/>
          </a:prstGeom>
          <a:noFill/>
        </p:spPr>
        <p:txBody>
          <a:bodyPr wrap="square" lIns="36576" tIns="18288" rIns="36576" bIns="18288" anchor="t"/>
          <a:lstStyle/>
          <a:p>
            <a:pPr algn="l"/>
            <a:r>
              <a:rPr sz="1400" b="1">
                <a:solidFill>
                  <a:srgbClr val="EFF6FF"/>
                </a:solidFill>
                <a:latin typeface="Aptos"/>
              </a:rPr>
              <a:t>Threat behaviour</a:t>
            </a:r>
          </a:p>
        </p:txBody>
      </p:sp>
      <p:sp>
        <p:nvSpPr>
          <p:cNvPr id="21" name="TextBox 20"/>
          <p:cNvSpPr txBox="1"/>
          <p:nvPr/>
        </p:nvSpPr>
        <p:spPr>
          <a:xfrm>
            <a:off x="5321808" y="4105655"/>
            <a:ext cx="475488" cy="201168"/>
          </a:xfrm>
          <a:prstGeom prst="rect">
            <a:avLst/>
          </a:prstGeom>
          <a:noFill/>
        </p:spPr>
        <p:txBody>
          <a:bodyPr wrap="square" lIns="36576" tIns="18288" rIns="36576" bIns="18288" anchor="t"/>
          <a:lstStyle/>
          <a:p>
            <a:pPr algn="r"/>
            <a:r>
              <a:rPr sz="1300" b="1">
                <a:solidFill>
                  <a:srgbClr val="29D3FF"/>
                </a:solidFill>
                <a:latin typeface="Aptos Mono"/>
              </a:rPr>
              <a:t>10%</a:t>
            </a:r>
          </a:p>
        </p:txBody>
      </p:sp>
      <p:sp>
        <p:nvSpPr>
          <p:cNvPr id="22" name="Rectangle 21"/>
          <p:cNvSpPr/>
          <p:nvPr/>
        </p:nvSpPr>
        <p:spPr>
          <a:xfrm>
            <a:off x="2724912" y="4142231"/>
            <a:ext cx="2331720" cy="109728"/>
          </a:xfrm>
          <a:prstGeom prst="rect">
            <a:avLst/>
          </a:prstGeom>
          <a:solidFill>
            <a:srgbClr val="1E314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3" name="Rectangle 22"/>
          <p:cNvSpPr/>
          <p:nvPr/>
        </p:nvSpPr>
        <p:spPr>
          <a:xfrm>
            <a:off x="2724912" y="4142231"/>
            <a:ext cx="666205" cy="109728"/>
          </a:xfrm>
          <a:prstGeom prst="rect">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4" name="TextBox 23"/>
          <p:cNvSpPr txBox="1"/>
          <p:nvPr/>
        </p:nvSpPr>
        <p:spPr>
          <a:xfrm>
            <a:off x="896112" y="4626864"/>
            <a:ext cx="1737360" cy="201168"/>
          </a:xfrm>
          <a:prstGeom prst="rect">
            <a:avLst/>
          </a:prstGeom>
          <a:noFill/>
        </p:spPr>
        <p:txBody>
          <a:bodyPr wrap="square" lIns="36576" tIns="18288" rIns="36576" bIns="18288" anchor="t"/>
          <a:lstStyle/>
          <a:p>
            <a:pPr algn="l"/>
            <a:r>
              <a:rPr sz="1400" b="1">
                <a:solidFill>
                  <a:srgbClr val="EFF6FF"/>
                </a:solidFill>
                <a:latin typeface="Aptos"/>
              </a:rPr>
              <a:t>Correlation bonus</a:t>
            </a:r>
          </a:p>
        </p:txBody>
      </p:sp>
      <p:sp>
        <p:nvSpPr>
          <p:cNvPr id="25" name="TextBox 24"/>
          <p:cNvSpPr txBox="1"/>
          <p:nvPr/>
        </p:nvSpPr>
        <p:spPr>
          <a:xfrm>
            <a:off x="5321808" y="4626864"/>
            <a:ext cx="475488" cy="201168"/>
          </a:xfrm>
          <a:prstGeom prst="rect">
            <a:avLst/>
          </a:prstGeom>
          <a:noFill/>
        </p:spPr>
        <p:txBody>
          <a:bodyPr wrap="square" lIns="36576" tIns="18288" rIns="36576" bIns="18288" anchor="t"/>
          <a:lstStyle/>
          <a:p>
            <a:pPr algn="r"/>
            <a:r>
              <a:rPr sz="1300" b="1">
                <a:solidFill>
                  <a:srgbClr val="3ED38B"/>
                </a:solidFill>
                <a:latin typeface="Aptos Mono"/>
              </a:rPr>
              <a:t>10%</a:t>
            </a:r>
          </a:p>
        </p:txBody>
      </p:sp>
      <p:sp>
        <p:nvSpPr>
          <p:cNvPr id="26" name="Rectangle 25"/>
          <p:cNvSpPr/>
          <p:nvPr/>
        </p:nvSpPr>
        <p:spPr>
          <a:xfrm>
            <a:off x="2724912" y="4663440"/>
            <a:ext cx="2331720" cy="109728"/>
          </a:xfrm>
          <a:prstGeom prst="rect">
            <a:avLst/>
          </a:prstGeom>
          <a:solidFill>
            <a:srgbClr val="1E314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7" name="Rectangle 26"/>
          <p:cNvSpPr/>
          <p:nvPr/>
        </p:nvSpPr>
        <p:spPr>
          <a:xfrm>
            <a:off x="2724912" y="4663440"/>
            <a:ext cx="666205" cy="109728"/>
          </a:xfrm>
          <a:prstGeom prst="rect">
            <a:avLst/>
          </a:prstGeom>
          <a:solidFill>
            <a:srgbClr val="3ED38B"/>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8" name="Rounded Rectangle 27"/>
          <p:cNvSpPr/>
          <p:nvPr/>
        </p:nvSpPr>
        <p:spPr>
          <a:xfrm>
            <a:off x="640080" y="5650992"/>
            <a:ext cx="5486400" cy="502920"/>
          </a:xfrm>
          <a:prstGeom prst="roundRect">
            <a:avLst/>
          </a:prstGeom>
          <a:solidFill>
            <a:srgbClr val="060C16"/>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9" name="TextBox 28"/>
          <p:cNvSpPr txBox="1"/>
          <p:nvPr/>
        </p:nvSpPr>
        <p:spPr>
          <a:xfrm>
            <a:off x="804672" y="5797296"/>
            <a:ext cx="594360" cy="164592"/>
          </a:xfrm>
          <a:prstGeom prst="rect">
            <a:avLst/>
          </a:prstGeom>
          <a:noFill/>
        </p:spPr>
        <p:txBody>
          <a:bodyPr wrap="square" lIns="36576" tIns="18288" rIns="36576" bIns="18288" anchor="t"/>
          <a:lstStyle/>
          <a:p>
            <a:pPr algn="l"/>
            <a:r>
              <a:rPr sz="1300" b="1">
                <a:solidFill>
                  <a:srgbClr val="EFF6FF"/>
                </a:solidFill>
                <a:latin typeface="Aptos Mono"/>
              </a:rPr>
              <a:t>80–100</a:t>
            </a:r>
          </a:p>
        </p:txBody>
      </p:sp>
      <p:sp>
        <p:nvSpPr>
          <p:cNvPr id="30" name="TextBox 29"/>
          <p:cNvSpPr txBox="1"/>
          <p:nvPr/>
        </p:nvSpPr>
        <p:spPr>
          <a:xfrm>
            <a:off x="1426464" y="5797296"/>
            <a:ext cx="621792" cy="164592"/>
          </a:xfrm>
          <a:prstGeom prst="rect">
            <a:avLst/>
          </a:prstGeom>
          <a:noFill/>
        </p:spPr>
        <p:txBody>
          <a:bodyPr wrap="square" lIns="36576" tIns="18288" rIns="36576" bIns="18288" anchor="t"/>
          <a:lstStyle/>
          <a:p>
            <a:pPr algn="l"/>
            <a:r>
              <a:rPr sz="1300" b="1">
                <a:solidFill>
                  <a:srgbClr val="FF4A4A"/>
                </a:solidFill>
                <a:latin typeface="Aptos Mono"/>
              </a:rPr>
              <a:t>CRITICAL</a:t>
            </a:r>
          </a:p>
        </p:txBody>
      </p:sp>
      <p:sp>
        <p:nvSpPr>
          <p:cNvPr id="31" name="TextBox 30"/>
          <p:cNvSpPr txBox="1"/>
          <p:nvPr/>
        </p:nvSpPr>
        <p:spPr>
          <a:xfrm>
            <a:off x="2103120" y="5797296"/>
            <a:ext cx="594360" cy="164592"/>
          </a:xfrm>
          <a:prstGeom prst="rect">
            <a:avLst/>
          </a:prstGeom>
          <a:noFill/>
        </p:spPr>
        <p:txBody>
          <a:bodyPr wrap="square" lIns="36576" tIns="18288" rIns="36576" bIns="18288" anchor="t"/>
          <a:lstStyle/>
          <a:p>
            <a:pPr algn="l"/>
            <a:r>
              <a:rPr sz="1300" b="1">
                <a:solidFill>
                  <a:srgbClr val="EFF6FF"/>
                </a:solidFill>
                <a:latin typeface="Aptos Mono"/>
              </a:rPr>
              <a:t>60–79</a:t>
            </a:r>
          </a:p>
        </p:txBody>
      </p:sp>
      <p:sp>
        <p:nvSpPr>
          <p:cNvPr id="32" name="TextBox 31"/>
          <p:cNvSpPr txBox="1"/>
          <p:nvPr/>
        </p:nvSpPr>
        <p:spPr>
          <a:xfrm>
            <a:off x="2724912" y="5797296"/>
            <a:ext cx="621792" cy="164592"/>
          </a:xfrm>
          <a:prstGeom prst="rect">
            <a:avLst/>
          </a:prstGeom>
          <a:noFill/>
        </p:spPr>
        <p:txBody>
          <a:bodyPr wrap="square" lIns="36576" tIns="18288" rIns="36576" bIns="18288" anchor="t"/>
          <a:lstStyle/>
          <a:p>
            <a:pPr algn="l"/>
            <a:r>
              <a:rPr sz="1300" b="1">
                <a:solidFill>
                  <a:srgbClr val="FF9948"/>
                </a:solidFill>
                <a:latin typeface="Aptos Mono"/>
              </a:rPr>
              <a:t>HIGH</a:t>
            </a:r>
          </a:p>
        </p:txBody>
      </p:sp>
      <p:sp>
        <p:nvSpPr>
          <p:cNvPr id="33" name="TextBox 32"/>
          <p:cNvSpPr txBox="1"/>
          <p:nvPr/>
        </p:nvSpPr>
        <p:spPr>
          <a:xfrm>
            <a:off x="3401568" y="5797296"/>
            <a:ext cx="594360" cy="164592"/>
          </a:xfrm>
          <a:prstGeom prst="rect">
            <a:avLst/>
          </a:prstGeom>
          <a:noFill/>
        </p:spPr>
        <p:txBody>
          <a:bodyPr wrap="square" lIns="36576" tIns="18288" rIns="36576" bIns="18288" anchor="t"/>
          <a:lstStyle/>
          <a:p>
            <a:pPr algn="l"/>
            <a:r>
              <a:rPr sz="1300" b="1">
                <a:solidFill>
                  <a:srgbClr val="EFF6FF"/>
                </a:solidFill>
                <a:latin typeface="Aptos Mono"/>
              </a:rPr>
              <a:t>35–59</a:t>
            </a:r>
          </a:p>
        </p:txBody>
      </p:sp>
      <p:sp>
        <p:nvSpPr>
          <p:cNvPr id="34" name="TextBox 33"/>
          <p:cNvSpPr txBox="1"/>
          <p:nvPr/>
        </p:nvSpPr>
        <p:spPr>
          <a:xfrm>
            <a:off x="4023359" y="5797296"/>
            <a:ext cx="621792" cy="164592"/>
          </a:xfrm>
          <a:prstGeom prst="rect">
            <a:avLst/>
          </a:prstGeom>
          <a:noFill/>
        </p:spPr>
        <p:txBody>
          <a:bodyPr wrap="square" lIns="36576" tIns="18288" rIns="36576" bIns="18288" anchor="t"/>
          <a:lstStyle/>
          <a:p>
            <a:pPr algn="l"/>
            <a:r>
              <a:rPr sz="1300" b="1">
                <a:solidFill>
                  <a:srgbClr val="29D3FF"/>
                </a:solidFill>
                <a:latin typeface="Aptos Mono"/>
              </a:rPr>
              <a:t>MEDIUM</a:t>
            </a:r>
          </a:p>
        </p:txBody>
      </p:sp>
      <p:sp>
        <p:nvSpPr>
          <p:cNvPr id="35" name="TextBox 34"/>
          <p:cNvSpPr txBox="1"/>
          <p:nvPr/>
        </p:nvSpPr>
        <p:spPr>
          <a:xfrm>
            <a:off x="4700016" y="5797296"/>
            <a:ext cx="594360" cy="164592"/>
          </a:xfrm>
          <a:prstGeom prst="rect">
            <a:avLst/>
          </a:prstGeom>
          <a:noFill/>
        </p:spPr>
        <p:txBody>
          <a:bodyPr wrap="square" lIns="36576" tIns="18288" rIns="36576" bIns="18288" anchor="t"/>
          <a:lstStyle/>
          <a:p>
            <a:pPr algn="l"/>
            <a:r>
              <a:rPr sz="1300" b="1">
                <a:solidFill>
                  <a:srgbClr val="EFF6FF"/>
                </a:solidFill>
                <a:latin typeface="Aptos Mono"/>
              </a:rPr>
              <a:t>0–34</a:t>
            </a:r>
          </a:p>
        </p:txBody>
      </p:sp>
      <p:sp>
        <p:nvSpPr>
          <p:cNvPr id="36" name="TextBox 35"/>
          <p:cNvSpPr txBox="1"/>
          <p:nvPr/>
        </p:nvSpPr>
        <p:spPr>
          <a:xfrm>
            <a:off x="5321807" y="5797296"/>
            <a:ext cx="621792" cy="164592"/>
          </a:xfrm>
          <a:prstGeom prst="rect">
            <a:avLst/>
          </a:prstGeom>
          <a:noFill/>
        </p:spPr>
        <p:txBody>
          <a:bodyPr wrap="square" lIns="36576" tIns="18288" rIns="36576" bIns="18288" anchor="t"/>
          <a:lstStyle/>
          <a:p>
            <a:pPr algn="l"/>
            <a:r>
              <a:rPr sz="1300" b="1">
                <a:solidFill>
                  <a:srgbClr val="3ED38B"/>
                </a:solidFill>
                <a:latin typeface="Aptos Mono"/>
              </a:rPr>
              <a:t>LOW</a:t>
            </a:r>
          </a:p>
        </p:txBody>
      </p:sp>
      <p:sp>
        <p:nvSpPr>
          <p:cNvPr id="37" name="Rounded Rectangle 36"/>
          <p:cNvSpPr/>
          <p:nvPr/>
        </p:nvSpPr>
        <p:spPr>
          <a:xfrm>
            <a:off x="6400800" y="1874519"/>
            <a:ext cx="5166360" cy="4279392"/>
          </a:xfrm>
          <a:prstGeom prst="roundRect">
            <a:avLst/>
          </a:prstGeom>
          <a:solidFill>
            <a:srgbClr val="060C16"/>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8" name="TextBox 37"/>
          <p:cNvSpPr txBox="1"/>
          <p:nvPr/>
        </p:nvSpPr>
        <p:spPr>
          <a:xfrm>
            <a:off x="6675120" y="2103120"/>
            <a:ext cx="3840480" cy="182880"/>
          </a:xfrm>
          <a:prstGeom prst="rect">
            <a:avLst/>
          </a:prstGeom>
          <a:noFill/>
        </p:spPr>
        <p:txBody>
          <a:bodyPr wrap="square" lIns="36576" tIns="18288" rIns="36576" bIns="18288" anchor="t"/>
          <a:lstStyle/>
          <a:p>
            <a:pPr algn="l"/>
            <a:r>
              <a:rPr sz="1300" b="1">
                <a:solidFill>
                  <a:srgbClr val="29D3FF"/>
                </a:solidFill>
                <a:latin typeface="Aptos Mono"/>
              </a:rPr>
              <a:t>SAME ALERT  /  DIFFERENT CONTEXT</a:t>
            </a:r>
          </a:p>
        </p:txBody>
      </p:sp>
      <p:sp>
        <p:nvSpPr>
          <p:cNvPr id="39" name="Rounded Rectangle 38"/>
          <p:cNvSpPr/>
          <p:nvPr/>
        </p:nvSpPr>
        <p:spPr>
          <a:xfrm>
            <a:off x="6675120" y="2560320"/>
            <a:ext cx="2057400" cy="2331720"/>
          </a:xfrm>
          <a:prstGeom prst="roundRect">
            <a:avLst/>
          </a:prstGeom>
          <a:solidFill>
            <a:srgbClr val="101B2D"/>
          </a:solidFill>
          <a:ln w="12700">
            <a:solidFill>
              <a:srgbClr val="FF4A4A"/>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0" name="Pentagon 39"/>
          <p:cNvSpPr/>
          <p:nvPr/>
        </p:nvSpPr>
        <p:spPr>
          <a:xfrm>
            <a:off x="7479792" y="2816352"/>
            <a:ext cx="475488" cy="475488"/>
          </a:xfrm>
          <a:prstGeom prst="homePlate">
            <a:avLst/>
          </a:prstGeom>
          <a:solidFill>
            <a:srgbClr val="FF4A4A"/>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1" name="TextBox 40"/>
          <p:cNvSpPr txBox="1"/>
          <p:nvPr/>
        </p:nvSpPr>
        <p:spPr>
          <a:xfrm>
            <a:off x="6903720" y="3456432"/>
            <a:ext cx="1600200" cy="502920"/>
          </a:xfrm>
          <a:prstGeom prst="rect">
            <a:avLst/>
          </a:prstGeom>
          <a:noFill/>
        </p:spPr>
        <p:txBody>
          <a:bodyPr wrap="square" lIns="36576" tIns="18288" rIns="36576" bIns="18288" anchor="t"/>
          <a:lstStyle/>
          <a:p>
            <a:pPr algn="ctr"/>
            <a:r>
              <a:rPr sz="1300" b="1">
                <a:solidFill>
                  <a:srgbClr val="EFF6FF"/>
                </a:solidFill>
                <a:latin typeface="Aptos"/>
              </a:rPr>
              <a:t>DOMAIN
CONTROLLER</a:t>
            </a:r>
          </a:p>
        </p:txBody>
      </p:sp>
      <p:sp>
        <p:nvSpPr>
          <p:cNvPr id="42" name="Rounded Rectangle 41"/>
          <p:cNvSpPr/>
          <p:nvPr/>
        </p:nvSpPr>
        <p:spPr>
          <a:xfrm>
            <a:off x="6903720" y="4096512"/>
            <a:ext cx="1600200" cy="365760"/>
          </a:xfrm>
          <a:prstGeom prst="roundRect">
            <a:avLst/>
          </a:prstGeom>
          <a:solidFill>
            <a:srgbClr val="142338"/>
          </a:solidFill>
          <a:ln w="12700">
            <a:solidFill>
              <a:srgbClr val="FF4A4A"/>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3" name="TextBox 42"/>
          <p:cNvSpPr txBox="1"/>
          <p:nvPr/>
        </p:nvSpPr>
        <p:spPr>
          <a:xfrm>
            <a:off x="6987322" y="4233672"/>
            <a:ext cx="1516597" cy="105156"/>
          </a:xfrm>
          <a:prstGeom prst="rect">
            <a:avLst/>
          </a:prstGeom>
          <a:noFill/>
        </p:spPr>
        <p:txBody>
          <a:bodyPr wrap="square" lIns="36576" tIns="18288" rIns="36576" bIns="18288" anchor="ctr"/>
          <a:lstStyle/>
          <a:p>
            <a:pPr algn="ctr"/>
            <a:r>
              <a:rPr sz="1300" b="1">
                <a:solidFill>
                  <a:srgbClr val="FF4A4A"/>
                </a:solidFill>
                <a:latin typeface="Aptos Mono"/>
              </a:rPr>
              <a:t>SUSPICIOUS LOGIN</a:t>
            </a:r>
          </a:p>
        </p:txBody>
      </p:sp>
      <p:sp>
        <p:nvSpPr>
          <p:cNvPr id="44" name="TextBox 43"/>
          <p:cNvSpPr txBox="1"/>
          <p:nvPr/>
        </p:nvSpPr>
        <p:spPr>
          <a:xfrm>
            <a:off x="6903720" y="4462272"/>
            <a:ext cx="1600200" cy="274320"/>
          </a:xfrm>
          <a:prstGeom prst="rect">
            <a:avLst/>
          </a:prstGeom>
          <a:noFill/>
        </p:spPr>
        <p:txBody>
          <a:bodyPr wrap="square" lIns="36576" tIns="18288" rIns="36576" bIns="18288" anchor="t"/>
          <a:lstStyle/>
          <a:p>
            <a:pPr algn="ctr"/>
            <a:r>
              <a:rPr sz="1800" b="1">
                <a:solidFill>
                  <a:srgbClr val="FF4A4A"/>
                </a:solidFill>
                <a:latin typeface="Aptos Mono"/>
              </a:rPr>
              <a:t>RISK  86</a:t>
            </a:r>
          </a:p>
        </p:txBody>
      </p:sp>
      <p:sp>
        <p:nvSpPr>
          <p:cNvPr id="45" name="TextBox 44"/>
          <p:cNvSpPr txBox="1"/>
          <p:nvPr/>
        </p:nvSpPr>
        <p:spPr>
          <a:xfrm>
            <a:off x="8887968" y="3520440"/>
            <a:ext cx="256032" cy="228600"/>
          </a:xfrm>
          <a:prstGeom prst="rect">
            <a:avLst/>
          </a:prstGeom>
          <a:noFill/>
        </p:spPr>
        <p:txBody>
          <a:bodyPr wrap="square" lIns="36576" tIns="18288" rIns="36576" bIns="18288" anchor="t"/>
          <a:lstStyle/>
          <a:p>
            <a:pPr algn="ctr"/>
            <a:r>
              <a:rPr sz="1300" b="1">
                <a:solidFill>
                  <a:srgbClr val="9CAEC6"/>
                </a:solidFill>
                <a:latin typeface="Aptos"/>
              </a:rPr>
              <a:t>vs.</a:t>
            </a:r>
          </a:p>
        </p:txBody>
      </p:sp>
      <p:sp>
        <p:nvSpPr>
          <p:cNvPr id="46" name="Rounded Rectangle 45"/>
          <p:cNvSpPr/>
          <p:nvPr/>
        </p:nvSpPr>
        <p:spPr>
          <a:xfrm>
            <a:off x="9217152" y="2560320"/>
            <a:ext cx="2057400" cy="2331720"/>
          </a:xfrm>
          <a:prstGeom prst="roundRect">
            <a:avLst/>
          </a:prstGeom>
          <a:solidFill>
            <a:srgbClr val="101B2D"/>
          </a:solidFill>
          <a:ln w="12700">
            <a:solidFill>
              <a:srgbClr val="29D3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7" name="Rectangle 46"/>
          <p:cNvSpPr/>
          <p:nvPr/>
        </p:nvSpPr>
        <p:spPr>
          <a:xfrm>
            <a:off x="9720072" y="2944368"/>
            <a:ext cx="1051560" cy="621792"/>
          </a:xfrm>
          <a:prstGeom prst="rect">
            <a:avLst/>
          </a:prstGeom>
          <a:solidFill>
            <a:srgbClr val="142338"/>
          </a:solidFill>
          <a:ln>
            <a:solidFill>
              <a:srgbClr val="29D3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8" name="Oval 47"/>
          <p:cNvSpPr/>
          <p:nvPr/>
        </p:nvSpPr>
        <p:spPr>
          <a:xfrm>
            <a:off x="10104120" y="3099816"/>
            <a:ext cx="246888" cy="246888"/>
          </a:xfrm>
          <a:prstGeom prst="ellipse">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9" name="TextBox 48"/>
          <p:cNvSpPr txBox="1"/>
          <p:nvPr/>
        </p:nvSpPr>
        <p:spPr>
          <a:xfrm>
            <a:off x="9464040" y="3639312"/>
            <a:ext cx="1554480" cy="502920"/>
          </a:xfrm>
          <a:prstGeom prst="rect">
            <a:avLst/>
          </a:prstGeom>
          <a:noFill/>
        </p:spPr>
        <p:txBody>
          <a:bodyPr wrap="square" lIns="36576" tIns="18288" rIns="36576" bIns="18288" anchor="t"/>
          <a:lstStyle/>
          <a:p>
            <a:pPr algn="ctr"/>
            <a:r>
              <a:rPr sz="1300" b="1">
                <a:solidFill>
                  <a:srgbClr val="EFF6FF"/>
                </a:solidFill>
                <a:latin typeface="Aptos"/>
              </a:rPr>
              <a:t>LOBBY
CAMERA</a:t>
            </a:r>
          </a:p>
        </p:txBody>
      </p:sp>
      <p:sp>
        <p:nvSpPr>
          <p:cNvPr id="50" name="Rounded Rectangle 49"/>
          <p:cNvSpPr/>
          <p:nvPr/>
        </p:nvSpPr>
        <p:spPr>
          <a:xfrm>
            <a:off x="9464040" y="4032505"/>
            <a:ext cx="1636776" cy="393191"/>
          </a:xfrm>
          <a:prstGeom prst="roundRect">
            <a:avLst/>
          </a:prstGeom>
          <a:solidFill>
            <a:srgbClr val="142338"/>
          </a:solidFill>
          <a:ln w="12700">
            <a:solidFill>
              <a:srgbClr val="29D3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51" name="TextBox 50"/>
          <p:cNvSpPr txBox="1"/>
          <p:nvPr/>
        </p:nvSpPr>
        <p:spPr>
          <a:xfrm>
            <a:off x="9427464" y="4101084"/>
            <a:ext cx="1600200" cy="315468"/>
          </a:xfrm>
          <a:prstGeom prst="rect">
            <a:avLst/>
          </a:prstGeom>
          <a:noFill/>
        </p:spPr>
        <p:txBody>
          <a:bodyPr wrap="square" lIns="36576" tIns="18288" rIns="36576" bIns="18288" anchor="ctr"/>
          <a:lstStyle/>
          <a:p>
            <a:pPr algn="ctr"/>
            <a:r>
              <a:rPr sz="1300" b="1">
                <a:solidFill>
                  <a:srgbClr val="29D3FF"/>
                </a:solidFill>
                <a:latin typeface="Aptos Mono"/>
              </a:rPr>
              <a:t>SUSPICIOUS LOGIN</a:t>
            </a:r>
          </a:p>
        </p:txBody>
      </p:sp>
      <p:sp>
        <p:nvSpPr>
          <p:cNvPr id="52" name="TextBox 51"/>
          <p:cNvSpPr txBox="1"/>
          <p:nvPr/>
        </p:nvSpPr>
        <p:spPr>
          <a:xfrm>
            <a:off x="9464040" y="4462272"/>
            <a:ext cx="1600200" cy="274320"/>
          </a:xfrm>
          <a:prstGeom prst="rect">
            <a:avLst/>
          </a:prstGeom>
          <a:noFill/>
        </p:spPr>
        <p:txBody>
          <a:bodyPr wrap="square" lIns="36576" tIns="18288" rIns="36576" bIns="18288" anchor="t"/>
          <a:lstStyle/>
          <a:p>
            <a:pPr algn="ctr"/>
            <a:r>
              <a:rPr sz="1800" b="1">
                <a:solidFill>
                  <a:srgbClr val="29D3FF"/>
                </a:solidFill>
                <a:latin typeface="Aptos Mono"/>
              </a:rPr>
              <a:t>RISK  38</a:t>
            </a:r>
          </a:p>
        </p:txBody>
      </p:sp>
      <p:sp>
        <p:nvSpPr>
          <p:cNvPr id="53" name="TextBox 52"/>
          <p:cNvSpPr txBox="1"/>
          <p:nvPr/>
        </p:nvSpPr>
        <p:spPr>
          <a:xfrm>
            <a:off x="6766560" y="5349240"/>
            <a:ext cx="4480560" cy="274320"/>
          </a:xfrm>
          <a:prstGeom prst="rect">
            <a:avLst/>
          </a:prstGeom>
          <a:noFill/>
        </p:spPr>
        <p:txBody>
          <a:bodyPr wrap="square" lIns="36576" tIns="18288" rIns="36576" bIns="18288" anchor="t"/>
          <a:lstStyle/>
          <a:p>
            <a:pPr algn="ctr"/>
            <a:r>
              <a:rPr sz="1300" b="1">
                <a:solidFill>
                  <a:srgbClr val="EFF6FF"/>
                </a:solidFill>
                <a:latin typeface="Aptos"/>
              </a:rPr>
              <a:t>Context changes priority.</a:t>
            </a:r>
          </a:p>
        </p:txBody>
      </p:sp>
      <p:sp>
        <p:nvSpPr>
          <p:cNvPr id="54" name="TextBox 53"/>
          <p:cNvSpPr txBox="1"/>
          <p:nvPr/>
        </p:nvSpPr>
        <p:spPr>
          <a:xfrm>
            <a:off x="621792" y="6547104"/>
            <a:ext cx="6400800" cy="164592"/>
          </a:xfrm>
          <a:prstGeom prst="rect">
            <a:avLst/>
          </a:prstGeom>
          <a:noFill/>
        </p:spPr>
        <p:txBody>
          <a:bodyPr wrap="square" lIns="36576" tIns="18288" rIns="36576" bIns="18288" anchor="t"/>
          <a:lstStyle/>
          <a:p>
            <a:pPr algn="l"/>
            <a:r>
              <a:rPr sz="1300" b="1">
                <a:solidFill>
                  <a:srgbClr val="9CAEC6"/>
                </a:solidFill>
                <a:latin typeface="Aptos Mono"/>
              </a:rPr>
              <a:t>THREATNEXUS  /  AI SECURITY OPERATIONS</a:t>
            </a:r>
          </a:p>
        </p:txBody>
      </p:sp>
      <p:sp>
        <p:nvSpPr>
          <p:cNvPr id="55" name="TextBox 54"/>
          <p:cNvSpPr txBox="1"/>
          <p:nvPr/>
        </p:nvSpPr>
        <p:spPr>
          <a:xfrm>
            <a:off x="11064240" y="6510528"/>
            <a:ext cx="502920" cy="201168"/>
          </a:xfrm>
          <a:prstGeom prst="rect">
            <a:avLst/>
          </a:prstGeom>
          <a:noFill/>
        </p:spPr>
        <p:txBody>
          <a:bodyPr wrap="square" lIns="36576" tIns="18288" rIns="36576" bIns="18288" anchor="t"/>
          <a:lstStyle/>
          <a:p>
            <a:pPr algn="r"/>
            <a:r>
              <a:rPr sz="1300" b="1">
                <a:solidFill>
                  <a:srgbClr val="9CAEC6"/>
                </a:solidFill>
                <a:latin typeface="Aptos Mono"/>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101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 name="TextBox 2"/>
          <p:cNvSpPr txBox="1"/>
          <p:nvPr/>
        </p:nvSpPr>
        <p:spPr>
          <a:xfrm>
            <a:off x="594360" y="347472"/>
            <a:ext cx="2926080" cy="228600"/>
          </a:xfrm>
          <a:prstGeom prst="rect">
            <a:avLst/>
          </a:prstGeom>
          <a:noFill/>
        </p:spPr>
        <p:txBody>
          <a:bodyPr wrap="square" lIns="36576" tIns="18288" rIns="36576" bIns="18288" anchor="t"/>
          <a:lstStyle/>
          <a:p>
            <a:pPr algn="l"/>
            <a:r>
              <a:rPr sz="1300" b="1">
                <a:solidFill>
                  <a:srgbClr val="29D3FF"/>
                </a:solidFill>
                <a:latin typeface="Aptos Mono"/>
              </a:rPr>
              <a:t>04 / CORRELATION</a:t>
            </a:r>
          </a:p>
        </p:txBody>
      </p:sp>
      <p:sp>
        <p:nvSpPr>
          <p:cNvPr id="4" name="TextBox 3"/>
          <p:cNvSpPr txBox="1"/>
          <p:nvPr/>
        </p:nvSpPr>
        <p:spPr>
          <a:xfrm>
            <a:off x="594360" y="658368"/>
            <a:ext cx="10972800" cy="566928"/>
          </a:xfrm>
          <a:prstGeom prst="rect">
            <a:avLst/>
          </a:prstGeom>
          <a:noFill/>
        </p:spPr>
        <p:txBody>
          <a:bodyPr wrap="square" lIns="36576" tIns="18288" rIns="36576" bIns="18288" anchor="t"/>
          <a:lstStyle/>
          <a:p>
            <a:pPr algn="l"/>
            <a:r>
              <a:rPr sz="2800" b="1">
                <a:solidFill>
                  <a:srgbClr val="EFF6FF"/>
                </a:solidFill>
                <a:latin typeface="Aptos"/>
              </a:rPr>
              <a:t>From Isolated Alerts to Attack Stories</a:t>
            </a:r>
          </a:p>
        </p:txBody>
      </p:sp>
      <p:sp>
        <p:nvSpPr>
          <p:cNvPr id="5" name="TextBox 4"/>
          <p:cNvSpPr txBox="1"/>
          <p:nvPr/>
        </p:nvSpPr>
        <p:spPr>
          <a:xfrm>
            <a:off x="621792" y="1307592"/>
            <a:ext cx="10789920" cy="384048"/>
          </a:xfrm>
          <a:prstGeom prst="rect">
            <a:avLst/>
          </a:prstGeom>
          <a:noFill/>
        </p:spPr>
        <p:txBody>
          <a:bodyPr wrap="square" lIns="36576" tIns="18288" rIns="36576" bIns="18288" anchor="t"/>
          <a:lstStyle/>
          <a:p>
            <a:pPr algn="l"/>
            <a:r>
              <a:rPr sz="1400" b="1">
                <a:solidFill>
                  <a:srgbClr val="EFF6FF"/>
                </a:solidFill>
                <a:latin typeface="Aptos"/>
              </a:rPr>
              <a:t>Threats rarely arrive as one alert. ThreatNexus connects related events into a single story.</a:t>
            </a:r>
          </a:p>
        </p:txBody>
      </p:sp>
      <p:sp>
        <p:nvSpPr>
          <p:cNvPr id="6" name="Rounded Rectangle 5"/>
          <p:cNvSpPr/>
          <p:nvPr/>
        </p:nvSpPr>
        <p:spPr>
          <a:xfrm>
            <a:off x="658368" y="1719070"/>
            <a:ext cx="2999232" cy="539493"/>
          </a:xfrm>
          <a:prstGeom prst="roundRect">
            <a:avLst/>
          </a:prstGeom>
          <a:solidFill>
            <a:srgbClr val="101B2D"/>
          </a:solidFill>
          <a:ln w="12700">
            <a:solidFill>
              <a:srgbClr val="29D3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7" name="TextBox 6"/>
          <p:cNvSpPr txBox="1"/>
          <p:nvPr/>
        </p:nvSpPr>
        <p:spPr>
          <a:xfrm>
            <a:off x="658368" y="1888236"/>
            <a:ext cx="2880360" cy="228600"/>
          </a:xfrm>
          <a:prstGeom prst="rect">
            <a:avLst/>
          </a:prstGeom>
          <a:noFill/>
        </p:spPr>
        <p:txBody>
          <a:bodyPr wrap="square" lIns="36576" tIns="18288" rIns="36576" bIns="18288" anchor="ctr"/>
          <a:lstStyle/>
          <a:p>
            <a:pPr algn="ctr"/>
            <a:r>
              <a:rPr sz="1300" b="1">
                <a:solidFill>
                  <a:srgbClr val="29D3FF"/>
                </a:solidFill>
                <a:latin typeface="Aptos Mono"/>
              </a:rPr>
              <a:t>CORRELATION GROUP  /  TNX-4H-0192</a:t>
            </a:r>
          </a:p>
        </p:txBody>
      </p:sp>
      <p:cxnSp>
        <p:nvCxnSpPr>
          <p:cNvPr id="8" name="Connector 7"/>
          <p:cNvCxnSpPr/>
          <p:nvPr/>
        </p:nvCxnSpPr>
        <p:spPr>
          <a:xfrm>
            <a:off x="1115568" y="3008376"/>
            <a:ext cx="8988552" cy="0"/>
          </a:xfrm>
          <a:prstGeom prst="line">
            <a:avLst/>
          </a:prstGeom>
          <a:ln w="25400">
            <a:solidFill>
              <a:srgbClr val="1E3149"/>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22960" y="2788920"/>
            <a:ext cx="438912" cy="438912"/>
          </a:xfrm>
          <a:prstGeom prst="ellipse">
            <a:avLst/>
          </a:prstGeom>
          <a:solidFill>
            <a:srgbClr val="FF4A4A"/>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0" name="TextBox 9"/>
          <p:cNvSpPr txBox="1"/>
          <p:nvPr/>
        </p:nvSpPr>
        <p:spPr>
          <a:xfrm>
            <a:off x="685800" y="2404872"/>
            <a:ext cx="777240" cy="164592"/>
          </a:xfrm>
          <a:prstGeom prst="rect">
            <a:avLst/>
          </a:prstGeom>
          <a:noFill/>
        </p:spPr>
        <p:txBody>
          <a:bodyPr wrap="square" lIns="36576" tIns="18288" rIns="36576" bIns="18288" anchor="t"/>
          <a:lstStyle/>
          <a:p>
            <a:pPr algn="ctr"/>
            <a:r>
              <a:rPr sz="1300" b="1">
                <a:solidFill>
                  <a:srgbClr val="9CAEC6"/>
                </a:solidFill>
                <a:latin typeface="Aptos Mono"/>
              </a:rPr>
              <a:t>09:12</a:t>
            </a:r>
          </a:p>
        </p:txBody>
      </p:sp>
      <p:sp>
        <p:nvSpPr>
          <p:cNvPr id="11" name="Rounded Rectangle 10"/>
          <p:cNvSpPr/>
          <p:nvPr/>
        </p:nvSpPr>
        <p:spPr>
          <a:xfrm>
            <a:off x="548640" y="3447287"/>
            <a:ext cx="2240280" cy="1371600"/>
          </a:xfrm>
          <a:prstGeom prst="roundRect">
            <a:avLst/>
          </a:prstGeom>
          <a:solidFill>
            <a:srgbClr val="101B2D"/>
          </a:solidFill>
          <a:ln w="12700">
            <a:solidFill>
              <a:srgbClr val="FF4A4A"/>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 name="TextBox 11"/>
          <p:cNvSpPr txBox="1"/>
          <p:nvPr/>
        </p:nvSpPr>
        <p:spPr>
          <a:xfrm>
            <a:off x="749808" y="3657600"/>
            <a:ext cx="1828800" cy="182880"/>
          </a:xfrm>
          <a:prstGeom prst="rect">
            <a:avLst/>
          </a:prstGeom>
          <a:noFill/>
        </p:spPr>
        <p:txBody>
          <a:bodyPr wrap="square" lIns="36576" tIns="18288" rIns="36576" bIns="18288" anchor="t"/>
          <a:lstStyle/>
          <a:p>
            <a:pPr algn="ctr"/>
            <a:r>
              <a:rPr sz="1300" b="1">
                <a:solidFill>
                  <a:srgbClr val="FF4A4A"/>
                </a:solidFill>
                <a:latin typeface="Aptos Mono"/>
              </a:rPr>
              <a:t>INITIAL ACCESS</a:t>
            </a:r>
          </a:p>
        </p:txBody>
      </p:sp>
      <p:sp>
        <p:nvSpPr>
          <p:cNvPr id="13" name="TextBox 12"/>
          <p:cNvSpPr txBox="1"/>
          <p:nvPr/>
        </p:nvSpPr>
        <p:spPr>
          <a:xfrm>
            <a:off x="749808" y="3959352"/>
            <a:ext cx="1828800" cy="384048"/>
          </a:xfrm>
          <a:prstGeom prst="rect">
            <a:avLst/>
          </a:prstGeom>
          <a:noFill/>
        </p:spPr>
        <p:txBody>
          <a:bodyPr wrap="square" lIns="36576" tIns="18288" rIns="36576" bIns="18288" anchor="t"/>
          <a:lstStyle/>
          <a:p>
            <a:pPr algn="ctr"/>
            <a:r>
              <a:rPr sz="1300" b="1">
                <a:solidFill>
                  <a:srgbClr val="EFF6FF"/>
                </a:solidFill>
                <a:latin typeface="Aptos"/>
              </a:rPr>
              <a:t>Suspicious login</a:t>
            </a:r>
          </a:p>
        </p:txBody>
      </p:sp>
      <p:sp>
        <p:nvSpPr>
          <p:cNvPr id="14" name="Rounded Rectangle 13"/>
          <p:cNvSpPr/>
          <p:nvPr/>
        </p:nvSpPr>
        <p:spPr>
          <a:xfrm>
            <a:off x="1216152" y="4544568"/>
            <a:ext cx="777240" cy="274320"/>
          </a:xfrm>
          <a:prstGeom prst="roundRect">
            <a:avLst/>
          </a:prstGeom>
          <a:solidFill>
            <a:srgbClr val="060C16"/>
          </a:solidFill>
          <a:ln w="12700">
            <a:solidFill>
              <a:srgbClr val="FF4A4A"/>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 name="TextBox 14"/>
          <p:cNvSpPr txBox="1"/>
          <p:nvPr/>
        </p:nvSpPr>
        <p:spPr>
          <a:xfrm>
            <a:off x="1216152" y="4558283"/>
            <a:ext cx="777240" cy="228600"/>
          </a:xfrm>
          <a:prstGeom prst="rect">
            <a:avLst/>
          </a:prstGeom>
          <a:noFill/>
        </p:spPr>
        <p:txBody>
          <a:bodyPr wrap="square" lIns="36576" tIns="18288" rIns="36576" bIns="18288" anchor="ctr"/>
          <a:lstStyle/>
          <a:p>
            <a:pPr algn="ctr"/>
            <a:r>
              <a:rPr sz="1300" b="1">
                <a:solidFill>
                  <a:srgbClr val="FF4A4A"/>
                </a:solidFill>
                <a:latin typeface="Aptos Mono"/>
              </a:rPr>
              <a:t>09:12</a:t>
            </a:r>
          </a:p>
        </p:txBody>
      </p:sp>
      <p:sp>
        <p:nvSpPr>
          <p:cNvPr id="16" name="Oval 15"/>
          <p:cNvSpPr/>
          <p:nvPr/>
        </p:nvSpPr>
        <p:spPr>
          <a:xfrm>
            <a:off x="3657600" y="2788920"/>
            <a:ext cx="438912" cy="438912"/>
          </a:xfrm>
          <a:prstGeom prst="ellipse">
            <a:avLst/>
          </a:prstGeom>
          <a:solidFill>
            <a:srgbClr val="FF9948"/>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 name="TextBox 16"/>
          <p:cNvSpPr txBox="1"/>
          <p:nvPr/>
        </p:nvSpPr>
        <p:spPr>
          <a:xfrm>
            <a:off x="3520440" y="2404872"/>
            <a:ext cx="777240" cy="164592"/>
          </a:xfrm>
          <a:prstGeom prst="rect">
            <a:avLst/>
          </a:prstGeom>
          <a:noFill/>
        </p:spPr>
        <p:txBody>
          <a:bodyPr wrap="square" lIns="36576" tIns="18288" rIns="36576" bIns="18288" anchor="t"/>
          <a:lstStyle/>
          <a:p>
            <a:pPr algn="ctr"/>
            <a:r>
              <a:rPr sz="1300" b="1">
                <a:solidFill>
                  <a:srgbClr val="9CAEC6"/>
                </a:solidFill>
                <a:latin typeface="Aptos Mono"/>
              </a:rPr>
              <a:t>09:41</a:t>
            </a:r>
          </a:p>
        </p:txBody>
      </p:sp>
      <p:sp>
        <p:nvSpPr>
          <p:cNvPr id="18" name="Rounded Rectangle 17"/>
          <p:cNvSpPr/>
          <p:nvPr/>
        </p:nvSpPr>
        <p:spPr>
          <a:xfrm>
            <a:off x="3383280" y="3447287"/>
            <a:ext cx="2240280" cy="1371600"/>
          </a:xfrm>
          <a:prstGeom prst="roundRect">
            <a:avLst/>
          </a:prstGeom>
          <a:solidFill>
            <a:srgbClr val="101B2D"/>
          </a:solidFill>
          <a:ln w="12700">
            <a:solidFill>
              <a:srgbClr val="FF994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 name="TextBox 18"/>
          <p:cNvSpPr txBox="1"/>
          <p:nvPr/>
        </p:nvSpPr>
        <p:spPr>
          <a:xfrm>
            <a:off x="3584448" y="3657600"/>
            <a:ext cx="1828800" cy="182880"/>
          </a:xfrm>
          <a:prstGeom prst="rect">
            <a:avLst/>
          </a:prstGeom>
          <a:noFill/>
        </p:spPr>
        <p:txBody>
          <a:bodyPr wrap="square" lIns="36576" tIns="18288" rIns="36576" bIns="18288" anchor="t"/>
          <a:lstStyle/>
          <a:p>
            <a:pPr algn="ctr"/>
            <a:r>
              <a:rPr sz="1300" b="1">
                <a:solidFill>
                  <a:srgbClr val="FF9948"/>
                </a:solidFill>
                <a:latin typeface="Aptos Mono"/>
              </a:rPr>
              <a:t>POWERSHELL ACTIVITY</a:t>
            </a:r>
          </a:p>
        </p:txBody>
      </p:sp>
      <p:sp>
        <p:nvSpPr>
          <p:cNvPr id="20" name="TextBox 19"/>
          <p:cNvSpPr txBox="1"/>
          <p:nvPr/>
        </p:nvSpPr>
        <p:spPr>
          <a:xfrm>
            <a:off x="3584448" y="3959352"/>
            <a:ext cx="1828800" cy="384048"/>
          </a:xfrm>
          <a:prstGeom prst="rect">
            <a:avLst/>
          </a:prstGeom>
          <a:noFill/>
        </p:spPr>
        <p:txBody>
          <a:bodyPr wrap="square" lIns="36576" tIns="18288" rIns="36576" bIns="18288" anchor="t"/>
          <a:lstStyle/>
          <a:p>
            <a:pPr algn="ctr"/>
            <a:r>
              <a:rPr sz="1300" b="1">
                <a:solidFill>
                  <a:srgbClr val="EFF6FF"/>
                </a:solidFill>
                <a:latin typeface="Aptos"/>
              </a:rPr>
              <a:t>Encoded command</a:t>
            </a:r>
          </a:p>
        </p:txBody>
      </p:sp>
      <p:sp>
        <p:nvSpPr>
          <p:cNvPr id="21" name="Rounded Rectangle 20"/>
          <p:cNvSpPr/>
          <p:nvPr/>
        </p:nvSpPr>
        <p:spPr>
          <a:xfrm>
            <a:off x="4050791" y="4544568"/>
            <a:ext cx="777240" cy="274320"/>
          </a:xfrm>
          <a:prstGeom prst="roundRect">
            <a:avLst/>
          </a:prstGeom>
          <a:solidFill>
            <a:srgbClr val="060C16"/>
          </a:solidFill>
          <a:ln w="12700">
            <a:solidFill>
              <a:srgbClr val="FF994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2" name="TextBox 21"/>
          <p:cNvSpPr txBox="1"/>
          <p:nvPr/>
        </p:nvSpPr>
        <p:spPr>
          <a:xfrm>
            <a:off x="4050791" y="4558283"/>
            <a:ext cx="777240" cy="228600"/>
          </a:xfrm>
          <a:prstGeom prst="rect">
            <a:avLst/>
          </a:prstGeom>
          <a:noFill/>
        </p:spPr>
        <p:txBody>
          <a:bodyPr wrap="square" lIns="36576" tIns="18288" rIns="36576" bIns="18288" anchor="ctr"/>
          <a:lstStyle/>
          <a:p>
            <a:pPr algn="ctr"/>
            <a:r>
              <a:rPr sz="1300" b="1">
                <a:solidFill>
                  <a:srgbClr val="FF9948"/>
                </a:solidFill>
                <a:latin typeface="Aptos Mono"/>
              </a:rPr>
              <a:t>09:41</a:t>
            </a:r>
          </a:p>
        </p:txBody>
      </p:sp>
      <p:sp>
        <p:nvSpPr>
          <p:cNvPr id="23" name="Oval 22"/>
          <p:cNvSpPr/>
          <p:nvPr/>
        </p:nvSpPr>
        <p:spPr>
          <a:xfrm>
            <a:off x="6492240" y="2788920"/>
            <a:ext cx="438912" cy="438912"/>
          </a:xfrm>
          <a:prstGeom prst="ellipse">
            <a:avLst/>
          </a:prstGeom>
          <a:solidFill>
            <a:srgbClr val="FF9948"/>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4" name="TextBox 23"/>
          <p:cNvSpPr txBox="1"/>
          <p:nvPr/>
        </p:nvSpPr>
        <p:spPr>
          <a:xfrm>
            <a:off x="6355079" y="2404872"/>
            <a:ext cx="777240" cy="164592"/>
          </a:xfrm>
          <a:prstGeom prst="rect">
            <a:avLst/>
          </a:prstGeom>
          <a:noFill/>
        </p:spPr>
        <p:txBody>
          <a:bodyPr wrap="square" lIns="36576" tIns="18288" rIns="36576" bIns="18288" anchor="t"/>
          <a:lstStyle/>
          <a:p>
            <a:pPr algn="ctr"/>
            <a:r>
              <a:rPr sz="1300" b="1">
                <a:solidFill>
                  <a:srgbClr val="9CAEC6"/>
                </a:solidFill>
                <a:latin typeface="Aptos Mono"/>
              </a:rPr>
              <a:t>10:16</a:t>
            </a:r>
          </a:p>
        </p:txBody>
      </p:sp>
      <p:sp>
        <p:nvSpPr>
          <p:cNvPr id="25" name="Rounded Rectangle 24"/>
          <p:cNvSpPr/>
          <p:nvPr/>
        </p:nvSpPr>
        <p:spPr>
          <a:xfrm>
            <a:off x="6217920" y="3447287"/>
            <a:ext cx="2240280" cy="1371600"/>
          </a:xfrm>
          <a:prstGeom prst="roundRect">
            <a:avLst/>
          </a:prstGeom>
          <a:solidFill>
            <a:srgbClr val="101B2D"/>
          </a:solidFill>
          <a:ln w="12700">
            <a:solidFill>
              <a:srgbClr val="FF994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6" name="TextBox 25"/>
          <p:cNvSpPr txBox="1"/>
          <p:nvPr/>
        </p:nvSpPr>
        <p:spPr>
          <a:xfrm>
            <a:off x="6419088" y="3657600"/>
            <a:ext cx="1828800" cy="182880"/>
          </a:xfrm>
          <a:prstGeom prst="rect">
            <a:avLst/>
          </a:prstGeom>
          <a:noFill/>
        </p:spPr>
        <p:txBody>
          <a:bodyPr wrap="square" lIns="36576" tIns="18288" rIns="36576" bIns="18288" anchor="t"/>
          <a:lstStyle/>
          <a:p>
            <a:pPr algn="ctr"/>
            <a:r>
              <a:rPr sz="1300" b="1">
                <a:solidFill>
                  <a:srgbClr val="FF9948"/>
                </a:solidFill>
                <a:latin typeface="Aptos Mono"/>
              </a:rPr>
              <a:t>LATERAL MOVEMENT</a:t>
            </a:r>
          </a:p>
        </p:txBody>
      </p:sp>
      <p:sp>
        <p:nvSpPr>
          <p:cNvPr id="27" name="TextBox 26"/>
          <p:cNvSpPr txBox="1"/>
          <p:nvPr/>
        </p:nvSpPr>
        <p:spPr>
          <a:xfrm>
            <a:off x="6419088" y="3959352"/>
            <a:ext cx="1828800" cy="384048"/>
          </a:xfrm>
          <a:prstGeom prst="rect">
            <a:avLst/>
          </a:prstGeom>
          <a:noFill/>
        </p:spPr>
        <p:txBody>
          <a:bodyPr wrap="square" lIns="36576" tIns="18288" rIns="36576" bIns="18288" anchor="t"/>
          <a:lstStyle/>
          <a:p>
            <a:pPr algn="ctr"/>
            <a:r>
              <a:rPr sz="1300" b="1">
                <a:solidFill>
                  <a:srgbClr val="EFF6FF"/>
                </a:solidFill>
                <a:latin typeface="Aptos"/>
              </a:rPr>
              <a:t>Remote execution</a:t>
            </a:r>
          </a:p>
        </p:txBody>
      </p:sp>
      <p:sp>
        <p:nvSpPr>
          <p:cNvPr id="28" name="Rounded Rectangle 27"/>
          <p:cNvSpPr/>
          <p:nvPr/>
        </p:nvSpPr>
        <p:spPr>
          <a:xfrm>
            <a:off x="6885431" y="4544568"/>
            <a:ext cx="777240" cy="274320"/>
          </a:xfrm>
          <a:prstGeom prst="roundRect">
            <a:avLst/>
          </a:prstGeom>
          <a:solidFill>
            <a:srgbClr val="060C16"/>
          </a:solidFill>
          <a:ln w="12700">
            <a:solidFill>
              <a:srgbClr val="FF994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9" name="TextBox 28"/>
          <p:cNvSpPr txBox="1"/>
          <p:nvPr/>
        </p:nvSpPr>
        <p:spPr>
          <a:xfrm>
            <a:off x="6885431" y="4558283"/>
            <a:ext cx="777240" cy="228600"/>
          </a:xfrm>
          <a:prstGeom prst="rect">
            <a:avLst/>
          </a:prstGeom>
          <a:noFill/>
        </p:spPr>
        <p:txBody>
          <a:bodyPr wrap="square" lIns="36576" tIns="18288" rIns="36576" bIns="18288" anchor="ctr"/>
          <a:lstStyle/>
          <a:p>
            <a:pPr algn="ctr"/>
            <a:r>
              <a:rPr sz="1300" b="1">
                <a:solidFill>
                  <a:srgbClr val="FF9948"/>
                </a:solidFill>
                <a:latin typeface="Aptos Mono"/>
              </a:rPr>
              <a:t>10:16</a:t>
            </a:r>
          </a:p>
        </p:txBody>
      </p:sp>
      <p:sp>
        <p:nvSpPr>
          <p:cNvPr id="30" name="Oval 29"/>
          <p:cNvSpPr/>
          <p:nvPr/>
        </p:nvSpPr>
        <p:spPr>
          <a:xfrm>
            <a:off x="9326880" y="2788920"/>
            <a:ext cx="438912" cy="438912"/>
          </a:xfrm>
          <a:prstGeom prst="ellipse">
            <a:avLst/>
          </a:prstGeom>
          <a:solidFill>
            <a:srgbClr val="FF4A4A"/>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1" name="TextBox 30"/>
          <p:cNvSpPr txBox="1"/>
          <p:nvPr/>
        </p:nvSpPr>
        <p:spPr>
          <a:xfrm>
            <a:off x="9189719" y="2404872"/>
            <a:ext cx="777240" cy="164592"/>
          </a:xfrm>
          <a:prstGeom prst="rect">
            <a:avLst/>
          </a:prstGeom>
          <a:noFill/>
        </p:spPr>
        <p:txBody>
          <a:bodyPr wrap="square" lIns="36576" tIns="18288" rIns="36576" bIns="18288" anchor="t"/>
          <a:lstStyle/>
          <a:p>
            <a:pPr algn="ctr"/>
            <a:r>
              <a:rPr sz="1300" b="1">
                <a:solidFill>
                  <a:srgbClr val="9CAEC6"/>
                </a:solidFill>
                <a:latin typeface="Aptos Mono"/>
              </a:rPr>
              <a:t>11:03</a:t>
            </a:r>
          </a:p>
        </p:txBody>
      </p:sp>
      <p:sp>
        <p:nvSpPr>
          <p:cNvPr id="32" name="Rounded Rectangle 31"/>
          <p:cNvSpPr/>
          <p:nvPr/>
        </p:nvSpPr>
        <p:spPr>
          <a:xfrm>
            <a:off x="9052559" y="3447287"/>
            <a:ext cx="2240280" cy="1371600"/>
          </a:xfrm>
          <a:prstGeom prst="roundRect">
            <a:avLst/>
          </a:prstGeom>
          <a:solidFill>
            <a:srgbClr val="101B2D"/>
          </a:solidFill>
          <a:ln w="12700">
            <a:solidFill>
              <a:srgbClr val="FF4A4A"/>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3" name="TextBox 32"/>
          <p:cNvSpPr txBox="1"/>
          <p:nvPr/>
        </p:nvSpPr>
        <p:spPr>
          <a:xfrm>
            <a:off x="9253728" y="3657600"/>
            <a:ext cx="1828800" cy="182880"/>
          </a:xfrm>
          <a:prstGeom prst="rect">
            <a:avLst/>
          </a:prstGeom>
          <a:noFill/>
        </p:spPr>
        <p:txBody>
          <a:bodyPr wrap="square" lIns="36576" tIns="18288" rIns="36576" bIns="18288" anchor="t"/>
          <a:lstStyle/>
          <a:p>
            <a:pPr algn="ctr"/>
            <a:r>
              <a:rPr sz="1300" b="1">
                <a:solidFill>
                  <a:srgbClr val="FF4A4A"/>
                </a:solidFill>
                <a:latin typeface="Aptos Mono"/>
              </a:rPr>
              <a:t>POSSIBLE EXFILTRATION</a:t>
            </a:r>
          </a:p>
        </p:txBody>
      </p:sp>
      <p:sp>
        <p:nvSpPr>
          <p:cNvPr id="34" name="TextBox 33"/>
          <p:cNvSpPr txBox="1"/>
          <p:nvPr/>
        </p:nvSpPr>
        <p:spPr>
          <a:xfrm>
            <a:off x="9253728" y="3959352"/>
            <a:ext cx="1828800" cy="384048"/>
          </a:xfrm>
          <a:prstGeom prst="rect">
            <a:avLst/>
          </a:prstGeom>
          <a:noFill/>
        </p:spPr>
        <p:txBody>
          <a:bodyPr wrap="square" lIns="36576" tIns="18288" rIns="36576" bIns="18288" anchor="t"/>
          <a:lstStyle/>
          <a:p>
            <a:pPr algn="ctr"/>
            <a:r>
              <a:rPr sz="1300" b="1">
                <a:solidFill>
                  <a:srgbClr val="EFF6FF"/>
                </a:solidFill>
                <a:latin typeface="Aptos"/>
              </a:rPr>
              <a:t>Unusual outbound traffic</a:t>
            </a:r>
          </a:p>
        </p:txBody>
      </p:sp>
      <p:sp>
        <p:nvSpPr>
          <p:cNvPr id="35" name="Rounded Rectangle 34"/>
          <p:cNvSpPr/>
          <p:nvPr/>
        </p:nvSpPr>
        <p:spPr>
          <a:xfrm>
            <a:off x="9720072" y="4544568"/>
            <a:ext cx="777240" cy="274320"/>
          </a:xfrm>
          <a:prstGeom prst="roundRect">
            <a:avLst/>
          </a:prstGeom>
          <a:solidFill>
            <a:srgbClr val="060C16"/>
          </a:solidFill>
          <a:ln w="12700">
            <a:solidFill>
              <a:srgbClr val="FF4A4A"/>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6" name="TextBox 35"/>
          <p:cNvSpPr txBox="1"/>
          <p:nvPr/>
        </p:nvSpPr>
        <p:spPr>
          <a:xfrm>
            <a:off x="9720072" y="4558283"/>
            <a:ext cx="777240" cy="228600"/>
          </a:xfrm>
          <a:prstGeom prst="rect">
            <a:avLst/>
          </a:prstGeom>
          <a:noFill/>
        </p:spPr>
        <p:txBody>
          <a:bodyPr wrap="square" lIns="36576" tIns="18288" rIns="36576" bIns="18288" anchor="ctr"/>
          <a:lstStyle/>
          <a:p>
            <a:pPr algn="ctr"/>
            <a:r>
              <a:rPr sz="1300" b="1">
                <a:solidFill>
                  <a:srgbClr val="FF4A4A"/>
                </a:solidFill>
                <a:latin typeface="Aptos Mono"/>
              </a:rPr>
              <a:t>11:03</a:t>
            </a:r>
          </a:p>
        </p:txBody>
      </p:sp>
      <p:sp>
        <p:nvSpPr>
          <p:cNvPr id="37" name="Rounded Rectangle 36"/>
          <p:cNvSpPr/>
          <p:nvPr/>
        </p:nvSpPr>
        <p:spPr>
          <a:xfrm>
            <a:off x="822960" y="5413248"/>
            <a:ext cx="10149840" cy="658368"/>
          </a:xfrm>
          <a:prstGeom prst="roundRect">
            <a:avLst/>
          </a:prstGeom>
          <a:solidFill>
            <a:srgbClr val="060C16"/>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8" name="TextBox 37"/>
          <p:cNvSpPr txBox="1"/>
          <p:nvPr/>
        </p:nvSpPr>
        <p:spPr>
          <a:xfrm>
            <a:off x="1051560" y="5623560"/>
            <a:ext cx="731520" cy="182880"/>
          </a:xfrm>
          <a:prstGeom prst="rect">
            <a:avLst/>
          </a:prstGeom>
          <a:noFill/>
        </p:spPr>
        <p:txBody>
          <a:bodyPr wrap="square" lIns="36576" tIns="18288" rIns="36576" bIns="18288" anchor="t"/>
          <a:lstStyle/>
          <a:p>
            <a:pPr algn="l"/>
            <a:r>
              <a:rPr sz="1300" b="1">
                <a:solidFill>
                  <a:srgbClr val="9CAEC6"/>
                </a:solidFill>
                <a:latin typeface="Aptos Mono"/>
              </a:rPr>
              <a:t>Linked by</a:t>
            </a:r>
          </a:p>
        </p:txBody>
      </p:sp>
      <p:sp>
        <p:nvSpPr>
          <p:cNvPr id="39" name="Rounded Rectangle 38"/>
          <p:cNvSpPr/>
          <p:nvPr/>
        </p:nvSpPr>
        <p:spPr>
          <a:xfrm>
            <a:off x="1901952" y="5532120"/>
            <a:ext cx="2542032" cy="274320"/>
          </a:xfrm>
          <a:prstGeom prst="roundRect">
            <a:avLst/>
          </a:prstGeom>
          <a:solidFill>
            <a:srgbClr val="142338"/>
          </a:solidFill>
          <a:ln w="12700">
            <a:solidFill>
              <a:srgbClr val="29D3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0" name="TextBox 39"/>
          <p:cNvSpPr txBox="1"/>
          <p:nvPr/>
        </p:nvSpPr>
        <p:spPr>
          <a:xfrm>
            <a:off x="1901952" y="5545836"/>
            <a:ext cx="2542032" cy="228600"/>
          </a:xfrm>
          <a:prstGeom prst="rect">
            <a:avLst/>
          </a:prstGeom>
          <a:noFill/>
        </p:spPr>
        <p:txBody>
          <a:bodyPr wrap="square" lIns="36576" tIns="18288" rIns="36576" bIns="18288" anchor="ctr"/>
          <a:lstStyle/>
          <a:p>
            <a:pPr algn="ctr"/>
            <a:r>
              <a:rPr sz="1300" b="1">
                <a:solidFill>
                  <a:srgbClr val="29D3FF"/>
                </a:solidFill>
                <a:latin typeface="Aptos Mono"/>
              </a:rPr>
              <a:t>IP / domain / URL / hash</a:t>
            </a:r>
          </a:p>
        </p:txBody>
      </p:sp>
      <p:sp>
        <p:nvSpPr>
          <p:cNvPr id="41" name="Rounded Rectangle 40"/>
          <p:cNvSpPr/>
          <p:nvPr/>
        </p:nvSpPr>
        <p:spPr>
          <a:xfrm>
            <a:off x="4754880" y="5532120"/>
            <a:ext cx="2542032" cy="274320"/>
          </a:xfrm>
          <a:prstGeom prst="roundRect">
            <a:avLst/>
          </a:prstGeom>
          <a:solidFill>
            <a:srgbClr val="142338"/>
          </a:solidFill>
          <a:ln w="12700">
            <a:solidFill>
              <a:srgbClr val="4984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2" name="TextBox 41"/>
          <p:cNvSpPr txBox="1"/>
          <p:nvPr/>
        </p:nvSpPr>
        <p:spPr>
          <a:xfrm>
            <a:off x="4754880" y="5545836"/>
            <a:ext cx="2542032" cy="228600"/>
          </a:xfrm>
          <a:prstGeom prst="rect">
            <a:avLst/>
          </a:prstGeom>
          <a:noFill/>
        </p:spPr>
        <p:txBody>
          <a:bodyPr wrap="square" lIns="36576" tIns="18288" rIns="36576" bIns="18288" anchor="ctr"/>
          <a:lstStyle/>
          <a:p>
            <a:pPr algn="ctr"/>
            <a:r>
              <a:rPr sz="1300" b="1">
                <a:solidFill>
                  <a:srgbClr val="4984FF"/>
                </a:solidFill>
                <a:latin typeface="Aptos Mono"/>
              </a:rPr>
              <a:t>same affected asset</a:t>
            </a:r>
          </a:p>
        </p:txBody>
      </p:sp>
      <p:sp>
        <p:nvSpPr>
          <p:cNvPr id="43" name="Rounded Rectangle 42"/>
          <p:cNvSpPr/>
          <p:nvPr/>
        </p:nvSpPr>
        <p:spPr>
          <a:xfrm>
            <a:off x="7607808" y="5532120"/>
            <a:ext cx="2542032" cy="274320"/>
          </a:xfrm>
          <a:prstGeom prst="roundRect">
            <a:avLst/>
          </a:prstGeom>
          <a:solidFill>
            <a:srgbClr val="142338"/>
          </a:solidFill>
          <a:ln w="12700">
            <a:solidFill>
              <a:srgbClr val="FF994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4" name="TextBox 43"/>
          <p:cNvSpPr txBox="1"/>
          <p:nvPr/>
        </p:nvSpPr>
        <p:spPr>
          <a:xfrm>
            <a:off x="7607808" y="5545836"/>
            <a:ext cx="2542032" cy="228600"/>
          </a:xfrm>
          <a:prstGeom prst="rect">
            <a:avLst/>
          </a:prstGeom>
          <a:noFill/>
        </p:spPr>
        <p:txBody>
          <a:bodyPr wrap="square" lIns="36576" tIns="18288" rIns="36576" bIns="18288" anchor="ctr"/>
          <a:lstStyle/>
          <a:p>
            <a:pPr algn="ctr"/>
            <a:r>
              <a:rPr sz="1300" b="1">
                <a:solidFill>
                  <a:srgbClr val="FF9948"/>
                </a:solidFill>
                <a:latin typeface="Aptos Mono"/>
              </a:rPr>
              <a:t>four-hour window</a:t>
            </a:r>
          </a:p>
        </p:txBody>
      </p:sp>
      <p:sp>
        <p:nvSpPr>
          <p:cNvPr id="45" name="TextBox 44"/>
          <p:cNvSpPr txBox="1"/>
          <p:nvPr/>
        </p:nvSpPr>
        <p:spPr>
          <a:xfrm>
            <a:off x="621792" y="6547104"/>
            <a:ext cx="6400800" cy="164592"/>
          </a:xfrm>
          <a:prstGeom prst="rect">
            <a:avLst/>
          </a:prstGeom>
          <a:noFill/>
        </p:spPr>
        <p:txBody>
          <a:bodyPr wrap="square" lIns="36576" tIns="18288" rIns="36576" bIns="18288" anchor="t"/>
          <a:lstStyle/>
          <a:p>
            <a:pPr algn="l"/>
            <a:r>
              <a:rPr sz="1300" b="1">
                <a:solidFill>
                  <a:srgbClr val="9CAEC6"/>
                </a:solidFill>
                <a:latin typeface="Aptos Mono"/>
              </a:rPr>
              <a:t>THREATNEXUS  /  AI SECURITY OPERATIONS</a:t>
            </a:r>
          </a:p>
        </p:txBody>
      </p:sp>
      <p:sp>
        <p:nvSpPr>
          <p:cNvPr id="46" name="TextBox 45"/>
          <p:cNvSpPr txBox="1"/>
          <p:nvPr/>
        </p:nvSpPr>
        <p:spPr>
          <a:xfrm>
            <a:off x="11064240" y="6510528"/>
            <a:ext cx="502920" cy="201168"/>
          </a:xfrm>
          <a:prstGeom prst="rect">
            <a:avLst/>
          </a:prstGeom>
          <a:noFill/>
        </p:spPr>
        <p:txBody>
          <a:bodyPr wrap="square" lIns="36576" tIns="18288" rIns="36576" bIns="18288" anchor="t"/>
          <a:lstStyle/>
          <a:p>
            <a:pPr algn="r"/>
            <a:r>
              <a:rPr sz="1300" b="1">
                <a:solidFill>
                  <a:srgbClr val="9CAEC6"/>
                </a:solidFill>
                <a:latin typeface="Aptos Mono"/>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101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 name="TextBox 2"/>
          <p:cNvSpPr txBox="1"/>
          <p:nvPr/>
        </p:nvSpPr>
        <p:spPr>
          <a:xfrm>
            <a:off x="594360" y="347472"/>
            <a:ext cx="2926080" cy="228600"/>
          </a:xfrm>
          <a:prstGeom prst="rect">
            <a:avLst/>
          </a:prstGeom>
          <a:noFill/>
        </p:spPr>
        <p:txBody>
          <a:bodyPr wrap="square" lIns="36576" tIns="18288" rIns="36576" bIns="18288" anchor="t"/>
          <a:lstStyle/>
          <a:p>
            <a:pPr algn="l"/>
            <a:r>
              <a:rPr sz="1300" b="1">
                <a:solidFill>
                  <a:srgbClr val="29D3FF"/>
                </a:solidFill>
                <a:latin typeface="Aptos Mono"/>
              </a:rPr>
              <a:t>05 / DASHBOARD</a:t>
            </a:r>
          </a:p>
        </p:txBody>
      </p:sp>
      <p:sp>
        <p:nvSpPr>
          <p:cNvPr id="4" name="TextBox 3"/>
          <p:cNvSpPr txBox="1"/>
          <p:nvPr/>
        </p:nvSpPr>
        <p:spPr>
          <a:xfrm>
            <a:off x="594360" y="658368"/>
            <a:ext cx="10972800" cy="566928"/>
          </a:xfrm>
          <a:prstGeom prst="rect">
            <a:avLst/>
          </a:prstGeom>
          <a:noFill/>
        </p:spPr>
        <p:txBody>
          <a:bodyPr wrap="square" lIns="36576" tIns="18288" rIns="36576" bIns="18288" anchor="t"/>
          <a:lstStyle/>
          <a:p>
            <a:pPr algn="l"/>
            <a:r>
              <a:rPr sz="1400" b="1">
                <a:solidFill>
                  <a:srgbClr val="EFF6FF"/>
                </a:solidFill>
                <a:latin typeface="Aptos"/>
              </a:rPr>
              <a:t>One Workspace for Faster Decisions</a:t>
            </a:r>
          </a:p>
        </p:txBody>
      </p:sp>
      <p:sp>
        <p:nvSpPr>
          <p:cNvPr id="5" name="Rounded Rectangle 4"/>
          <p:cNvSpPr/>
          <p:nvPr/>
        </p:nvSpPr>
        <p:spPr>
          <a:xfrm>
            <a:off x="594360" y="1234440"/>
            <a:ext cx="11000232" cy="5074920"/>
          </a:xfrm>
          <a:prstGeom prst="roundRect">
            <a:avLst/>
          </a:prstGeom>
          <a:solidFill>
            <a:srgbClr val="060C16"/>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6" name="TextBox 5"/>
          <p:cNvSpPr txBox="1"/>
          <p:nvPr/>
        </p:nvSpPr>
        <p:spPr>
          <a:xfrm>
            <a:off x="841248" y="1481328"/>
            <a:ext cx="1463040" cy="228600"/>
          </a:xfrm>
          <a:prstGeom prst="rect">
            <a:avLst/>
          </a:prstGeom>
          <a:noFill/>
        </p:spPr>
        <p:txBody>
          <a:bodyPr wrap="square" lIns="36576" tIns="18288" rIns="36576" bIns="18288" anchor="t"/>
          <a:lstStyle/>
          <a:p>
            <a:pPr algn="l"/>
            <a:r>
              <a:rPr sz="1300" b="1">
                <a:solidFill>
                  <a:srgbClr val="29D3FF"/>
                </a:solidFill>
                <a:latin typeface="Aptos Mono"/>
              </a:rPr>
              <a:t>THREATNEXUS</a:t>
            </a:r>
          </a:p>
        </p:txBody>
      </p:sp>
      <p:sp>
        <p:nvSpPr>
          <p:cNvPr id="7" name="Rounded Rectangle 6"/>
          <p:cNvSpPr/>
          <p:nvPr/>
        </p:nvSpPr>
        <p:spPr>
          <a:xfrm>
            <a:off x="8759952" y="1444752"/>
            <a:ext cx="1188720" cy="274320"/>
          </a:xfrm>
          <a:prstGeom prst="roundRect">
            <a:avLst/>
          </a:prstGeom>
          <a:solidFill>
            <a:srgbClr val="142338"/>
          </a:solidFill>
          <a:ln w="12700">
            <a:solidFill>
              <a:srgbClr val="FF4A4A"/>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8" name="TextBox 7"/>
          <p:cNvSpPr txBox="1"/>
          <p:nvPr/>
        </p:nvSpPr>
        <p:spPr>
          <a:xfrm>
            <a:off x="8714232" y="1481223"/>
            <a:ext cx="1188720" cy="228600"/>
          </a:xfrm>
          <a:prstGeom prst="rect">
            <a:avLst/>
          </a:prstGeom>
          <a:noFill/>
        </p:spPr>
        <p:txBody>
          <a:bodyPr wrap="square" lIns="36576" tIns="18288" rIns="36576" bIns="18288" anchor="ctr"/>
          <a:lstStyle/>
          <a:p>
            <a:pPr algn="ctr"/>
            <a:r>
              <a:rPr sz="1300" b="1">
                <a:solidFill>
                  <a:srgbClr val="FF4A4A"/>
                </a:solidFill>
                <a:latin typeface="Aptos Mono"/>
              </a:rPr>
              <a:t>17 CRITICAL</a:t>
            </a:r>
          </a:p>
        </p:txBody>
      </p:sp>
      <p:sp>
        <p:nvSpPr>
          <p:cNvPr id="9" name="Rounded Rectangle 8"/>
          <p:cNvSpPr/>
          <p:nvPr/>
        </p:nvSpPr>
        <p:spPr>
          <a:xfrm>
            <a:off x="10460734" y="1289304"/>
            <a:ext cx="475489" cy="544068"/>
          </a:xfrm>
          <a:prstGeom prst="roundRect">
            <a:avLst/>
          </a:prstGeom>
          <a:solidFill>
            <a:srgbClr val="142338"/>
          </a:solidFill>
          <a:ln w="12700">
            <a:solidFill>
              <a:srgbClr val="FF994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0" name="TextBox 9"/>
          <p:cNvSpPr txBox="1"/>
          <p:nvPr/>
        </p:nvSpPr>
        <p:spPr>
          <a:xfrm>
            <a:off x="10515600" y="1426463"/>
            <a:ext cx="420624" cy="228600"/>
          </a:xfrm>
          <a:prstGeom prst="rect">
            <a:avLst/>
          </a:prstGeom>
          <a:noFill/>
        </p:spPr>
        <p:txBody>
          <a:bodyPr wrap="square" lIns="36576" tIns="18288" rIns="36576" bIns="18288" anchor="ctr"/>
          <a:lstStyle/>
          <a:p>
            <a:pPr algn="ctr"/>
            <a:r>
              <a:rPr sz="1300" b="1" dirty="0">
                <a:solidFill>
                  <a:srgbClr val="FF9948"/>
                </a:solidFill>
                <a:latin typeface="Aptos Mono"/>
              </a:rPr>
              <a:t>64 HIGH</a:t>
            </a:r>
          </a:p>
        </p:txBody>
      </p:sp>
      <p:sp>
        <p:nvSpPr>
          <p:cNvPr id="11" name="Rounded Rectangle 10"/>
          <p:cNvSpPr/>
          <p:nvPr/>
        </p:nvSpPr>
        <p:spPr>
          <a:xfrm>
            <a:off x="841248" y="1901952"/>
            <a:ext cx="3703320" cy="3931920"/>
          </a:xfrm>
          <a:prstGeom prst="roundRect">
            <a:avLst/>
          </a:prstGeom>
          <a:solidFill>
            <a:srgbClr val="101B2D"/>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 name="TextBox 11"/>
          <p:cNvSpPr txBox="1"/>
          <p:nvPr/>
        </p:nvSpPr>
        <p:spPr>
          <a:xfrm>
            <a:off x="1051560" y="2103120"/>
            <a:ext cx="2286000" cy="164592"/>
          </a:xfrm>
          <a:prstGeom prst="rect">
            <a:avLst/>
          </a:prstGeom>
          <a:noFill/>
        </p:spPr>
        <p:txBody>
          <a:bodyPr wrap="square" lIns="36576" tIns="18288" rIns="36576" bIns="18288" anchor="t"/>
          <a:lstStyle/>
          <a:p>
            <a:pPr algn="l"/>
            <a:r>
              <a:rPr sz="1400" b="1" dirty="0">
                <a:solidFill>
                  <a:srgbClr val="9CAEC6"/>
                </a:solidFill>
                <a:latin typeface="Aptos Mono"/>
              </a:rPr>
              <a:t>PRIORITISED ALERT QUEUE</a:t>
            </a:r>
          </a:p>
        </p:txBody>
      </p:sp>
      <p:sp>
        <p:nvSpPr>
          <p:cNvPr id="13" name="Rounded Rectangle 12"/>
          <p:cNvSpPr/>
          <p:nvPr/>
        </p:nvSpPr>
        <p:spPr>
          <a:xfrm>
            <a:off x="1005840" y="2414016"/>
            <a:ext cx="3337560" cy="475488"/>
          </a:xfrm>
          <a:prstGeom prst="roundRect">
            <a:avLst/>
          </a:prstGeom>
          <a:solidFill>
            <a:srgbClr val="142338"/>
          </a:solidFill>
          <a:ln w="12700">
            <a:solidFill>
              <a:srgbClr val="FF4A4A"/>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4" name="TextBox 13"/>
          <p:cNvSpPr txBox="1"/>
          <p:nvPr/>
        </p:nvSpPr>
        <p:spPr>
          <a:xfrm>
            <a:off x="1143000" y="2487168"/>
            <a:ext cx="438912" cy="201168"/>
          </a:xfrm>
          <a:prstGeom prst="rect">
            <a:avLst/>
          </a:prstGeom>
          <a:noFill/>
        </p:spPr>
        <p:txBody>
          <a:bodyPr wrap="square" lIns="36576" tIns="18288" rIns="36576" bIns="18288" anchor="t"/>
          <a:lstStyle/>
          <a:p>
            <a:pPr algn="l"/>
            <a:r>
              <a:rPr sz="1300" b="1">
                <a:solidFill>
                  <a:srgbClr val="FF4A4A"/>
                </a:solidFill>
                <a:latin typeface="Aptos Mono"/>
              </a:rPr>
              <a:t>92</a:t>
            </a:r>
          </a:p>
        </p:txBody>
      </p:sp>
      <p:sp>
        <p:nvSpPr>
          <p:cNvPr id="15" name="TextBox 14"/>
          <p:cNvSpPr txBox="1"/>
          <p:nvPr/>
        </p:nvSpPr>
        <p:spPr>
          <a:xfrm>
            <a:off x="1857598" y="2478433"/>
            <a:ext cx="1554480" cy="201168"/>
          </a:xfrm>
          <a:prstGeom prst="rect">
            <a:avLst/>
          </a:prstGeom>
          <a:noFill/>
        </p:spPr>
        <p:txBody>
          <a:bodyPr wrap="square" lIns="36576" tIns="18288" rIns="36576" bIns="18288" anchor="t"/>
          <a:lstStyle/>
          <a:p>
            <a:pPr algn="l"/>
            <a:r>
              <a:rPr sz="1300" b="1">
                <a:solidFill>
                  <a:srgbClr val="EFF6FF"/>
                </a:solidFill>
                <a:latin typeface="Aptos"/>
              </a:rPr>
              <a:t>Suspicious PowerShell</a:t>
            </a:r>
          </a:p>
        </p:txBody>
      </p:sp>
      <p:sp>
        <p:nvSpPr>
          <p:cNvPr id="16" name="TextBox 15"/>
          <p:cNvSpPr txBox="1"/>
          <p:nvPr/>
        </p:nvSpPr>
        <p:spPr>
          <a:xfrm>
            <a:off x="3401568" y="2487168"/>
            <a:ext cx="731520" cy="201168"/>
          </a:xfrm>
          <a:prstGeom prst="rect">
            <a:avLst/>
          </a:prstGeom>
          <a:noFill/>
        </p:spPr>
        <p:txBody>
          <a:bodyPr wrap="square" lIns="36576" tIns="18288" rIns="36576" bIns="18288" anchor="t"/>
          <a:lstStyle/>
          <a:p>
            <a:pPr algn="r"/>
            <a:r>
              <a:rPr sz="1300" b="1">
                <a:solidFill>
                  <a:srgbClr val="FF4A4A"/>
                </a:solidFill>
                <a:latin typeface="Aptos Mono"/>
              </a:rPr>
              <a:t>CRITICAL</a:t>
            </a:r>
          </a:p>
        </p:txBody>
      </p:sp>
      <p:sp>
        <p:nvSpPr>
          <p:cNvPr id="17" name="TextBox 16"/>
          <p:cNvSpPr txBox="1"/>
          <p:nvPr/>
        </p:nvSpPr>
        <p:spPr>
          <a:xfrm>
            <a:off x="1143000" y="3090672"/>
            <a:ext cx="438912" cy="201168"/>
          </a:xfrm>
          <a:prstGeom prst="rect">
            <a:avLst/>
          </a:prstGeom>
          <a:noFill/>
        </p:spPr>
        <p:txBody>
          <a:bodyPr wrap="square" lIns="36576" tIns="18288" rIns="36576" bIns="18288" anchor="t"/>
          <a:lstStyle/>
          <a:p>
            <a:pPr algn="l"/>
            <a:r>
              <a:rPr sz="1300" b="1">
                <a:solidFill>
                  <a:srgbClr val="FF9948"/>
                </a:solidFill>
                <a:latin typeface="Aptos Mono"/>
              </a:rPr>
              <a:t>78</a:t>
            </a:r>
          </a:p>
        </p:txBody>
      </p:sp>
      <p:sp>
        <p:nvSpPr>
          <p:cNvPr id="18" name="TextBox 17"/>
          <p:cNvSpPr txBox="1"/>
          <p:nvPr/>
        </p:nvSpPr>
        <p:spPr>
          <a:xfrm>
            <a:off x="1664208" y="3090672"/>
            <a:ext cx="1554480" cy="201168"/>
          </a:xfrm>
          <a:prstGeom prst="rect">
            <a:avLst/>
          </a:prstGeom>
          <a:noFill/>
        </p:spPr>
        <p:txBody>
          <a:bodyPr wrap="square" lIns="36576" tIns="18288" rIns="36576" bIns="18288" anchor="t"/>
          <a:lstStyle/>
          <a:p>
            <a:pPr algn="l"/>
            <a:r>
              <a:rPr sz="1300" b="1">
                <a:solidFill>
                  <a:srgbClr val="EFF6FF"/>
                </a:solidFill>
                <a:latin typeface="Aptos"/>
              </a:rPr>
              <a:t>Credential anomaly</a:t>
            </a:r>
          </a:p>
        </p:txBody>
      </p:sp>
      <p:sp>
        <p:nvSpPr>
          <p:cNvPr id="19" name="TextBox 18"/>
          <p:cNvSpPr txBox="1"/>
          <p:nvPr/>
        </p:nvSpPr>
        <p:spPr>
          <a:xfrm>
            <a:off x="3401568" y="3090672"/>
            <a:ext cx="731520" cy="201168"/>
          </a:xfrm>
          <a:prstGeom prst="rect">
            <a:avLst/>
          </a:prstGeom>
          <a:noFill/>
        </p:spPr>
        <p:txBody>
          <a:bodyPr wrap="square" lIns="36576" tIns="18288" rIns="36576" bIns="18288" anchor="t"/>
          <a:lstStyle/>
          <a:p>
            <a:pPr algn="r"/>
            <a:r>
              <a:rPr sz="1300" b="1">
                <a:solidFill>
                  <a:srgbClr val="FF9948"/>
                </a:solidFill>
                <a:latin typeface="Aptos Mono"/>
              </a:rPr>
              <a:t>HIGH</a:t>
            </a:r>
          </a:p>
        </p:txBody>
      </p:sp>
      <p:sp>
        <p:nvSpPr>
          <p:cNvPr id="20" name="TextBox 19"/>
          <p:cNvSpPr txBox="1"/>
          <p:nvPr/>
        </p:nvSpPr>
        <p:spPr>
          <a:xfrm>
            <a:off x="1143000" y="3694176"/>
            <a:ext cx="438912" cy="201168"/>
          </a:xfrm>
          <a:prstGeom prst="rect">
            <a:avLst/>
          </a:prstGeom>
          <a:noFill/>
        </p:spPr>
        <p:txBody>
          <a:bodyPr wrap="square" lIns="36576" tIns="18288" rIns="36576" bIns="18288" anchor="t"/>
          <a:lstStyle/>
          <a:p>
            <a:pPr algn="l"/>
            <a:r>
              <a:rPr sz="1300" b="1">
                <a:solidFill>
                  <a:srgbClr val="FF9948"/>
                </a:solidFill>
                <a:latin typeface="Aptos Mono"/>
              </a:rPr>
              <a:t>71</a:t>
            </a:r>
          </a:p>
        </p:txBody>
      </p:sp>
      <p:sp>
        <p:nvSpPr>
          <p:cNvPr id="21" name="TextBox 20"/>
          <p:cNvSpPr txBox="1"/>
          <p:nvPr/>
        </p:nvSpPr>
        <p:spPr>
          <a:xfrm>
            <a:off x="1664208" y="3694176"/>
            <a:ext cx="1554480" cy="201168"/>
          </a:xfrm>
          <a:prstGeom prst="rect">
            <a:avLst/>
          </a:prstGeom>
          <a:noFill/>
        </p:spPr>
        <p:txBody>
          <a:bodyPr wrap="square" lIns="36576" tIns="18288" rIns="36576" bIns="18288" anchor="t"/>
          <a:lstStyle/>
          <a:p>
            <a:pPr algn="l"/>
            <a:r>
              <a:rPr sz="1300" b="1">
                <a:solidFill>
                  <a:srgbClr val="EFF6FF"/>
                </a:solidFill>
                <a:latin typeface="Aptos"/>
              </a:rPr>
              <a:t>Malware IOC match</a:t>
            </a:r>
          </a:p>
        </p:txBody>
      </p:sp>
      <p:sp>
        <p:nvSpPr>
          <p:cNvPr id="22" name="TextBox 21"/>
          <p:cNvSpPr txBox="1"/>
          <p:nvPr/>
        </p:nvSpPr>
        <p:spPr>
          <a:xfrm>
            <a:off x="3401568" y="3694176"/>
            <a:ext cx="731520" cy="201168"/>
          </a:xfrm>
          <a:prstGeom prst="rect">
            <a:avLst/>
          </a:prstGeom>
          <a:noFill/>
        </p:spPr>
        <p:txBody>
          <a:bodyPr wrap="square" lIns="36576" tIns="18288" rIns="36576" bIns="18288" anchor="t"/>
          <a:lstStyle/>
          <a:p>
            <a:pPr algn="r"/>
            <a:r>
              <a:rPr sz="1300" b="1">
                <a:solidFill>
                  <a:srgbClr val="FF9948"/>
                </a:solidFill>
                <a:latin typeface="Aptos Mono"/>
              </a:rPr>
              <a:t>HIGH</a:t>
            </a:r>
          </a:p>
        </p:txBody>
      </p:sp>
      <p:sp>
        <p:nvSpPr>
          <p:cNvPr id="23" name="TextBox 22"/>
          <p:cNvSpPr txBox="1"/>
          <p:nvPr/>
        </p:nvSpPr>
        <p:spPr>
          <a:xfrm>
            <a:off x="1143000" y="4297680"/>
            <a:ext cx="438912" cy="201168"/>
          </a:xfrm>
          <a:prstGeom prst="rect">
            <a:avLst/>
          </a:prstGeom>
          <a:noFill/>
        </p:spPr>
        <p:txBody>
          <a:bodyPr wrap="square" lIns="36576" tIns="18288" rIns="36576" bIns="18288" anchor="t"/>
          <a:lstStyle/>
          <a:p>
            <a:pPr algn="l"/>
            <a:r>
              <a:rPr sz="1300" b="1">
                <a:solidFill>
                  <a:srgbClr val="29D3FF"/>
                </a:solidFill>
                <a:latin typeface="Aptos Mono"/>
              </a:rPr>
              <a:t>46</a:t>
            </a:r>
          </a:p>
        </p:txBody>
      </p:sp>
      <p:sp>
        <p:nvSpPr>
          <p:cNvPr id="24" name="TextBox 23"/>
          <p:cNvSpPr txBox="1"/>
          <p:nvPr/>
        </p:nvSpPr>
        <p:spPr>
          <a:xfrm>
            <a:off x="1664208" y="4297680"/>
            <a:ext cx="1554480" cy="201168"/>
          </a:xfrm>
          <a:prstGeom prst="rect">
            <a:avLst/>
          </a:prstGeom>
          <a:noFill/>
        </p:spPr>
        <p:txBody>
          <a:bodyPr wrap="square" lIns="36576" tIns="18288" rIns="36576" bIns="18288" anchor="t"/>
          <a:lstStyle/>
          <a:p>
            <a:pPr algn="l"/>
            <a:r>
              <a:rPr sz="1300" b="1">
                <a:solidFill>
                  <a:srgbClr val="EFF6FF"/>
                </a:solidFill>
                <a:latin typeface="Aptos"/>
              </a:rPr>
              <a:t>Unusual DNS request</a:t>
            </a:r>
          </a:p>
        </p:txBody>
      </p:sp>
      <p:sp>
        <p:nvSpPr>
          <p:cNvPr id="25" name="TextBox 24"/>
          <p:cNvSpPr txBox="1"/>
          <p:nvPr/>
        </p:nvSpPr>
        <p:spPr>
          <a:xfrm>
            <a:off x="3401568" y="4297680"/>
            <a:ext cx="731520" cy="201168"/>
          </a:xfrm>
          <a:prstGeom prst="rect">
            <a:avLst/>
          </a:prstGeom>
          <a:noFill/>
        </p:spPr>
        <p:txBody>
          <a:bodyPr wrap="square" lIns="36576" tIns="18288" rIns="36576" bIns="18288" anchor="t"/>
          <a:lstStyle/>
          <a:p>
            <a:pPr algn="r"/>
            <a:r>
              <a:rPr sz="1300" b="1">
                <a:solidFill>
                  <a:srgbClr val="29D3FF"/>
                </a:solidFill>
                <a:latin typeface="Aptos Mono"/>
              </a:rPr>
              <a:t>MEDIUM</a:t>
            </a:r>
          </a:p>
        </p:txBody>
      </p:sp>
      <p:sp>
        <p:nvSpPr>
          <p:cNvPr id="26" name="TextBox 25"/>
          <p:cNvSpPr txBox="1"/>
          <p:nvPr/>
        </p:nvSpPr>
        <p:spPr>
          <a:xfrm>
            <a:off x="1143000" y="4901184"/>
            <a:ext cx="438912" cy="201168"/>
          </a:xfrm>
          <a:prstGeom prst="rect">
            <a:avLst/>
          </a:prstGeom>
          <a:noFill/>
        </p:spPr>
        <p:txBody>
          <a:bodyPr wrap="square" lIns="36576" tIns="18288" rIns="36576" bIns="18288" anchor="t"/>
          <a:lstStyle/>
          <a:p>
            <a:pPr algn="l"/>
            <a:r>
              <a:rPr sz="1300" b="1">
                <a:solidFill>
                  <a:srgbClr val="3ED38B"/>
                </a:solidFill>
                <a:latin typeface="Aptos Mono"/>
              </a:rPr>
              <a:t>28</a:t>
            </a:r>
          </a:p>
        </p:txBody>
      </p:sp>
      <p:sp>
        <p:nvSpPr>
          <p:cNvPr id="27" name="TextBox 26"/>
          <p:cNvSpPr txBox="1"/>
          <p:nvPr/>
        </p:nvSpPr>
        <p:spPr>
          <a:xfrm>
            <a:off x="1664208" y="4901184"/>
            <a:ext cx="1554480" cy="201168"/>
          </a:xfrm>
          <a:prstGeom prst="rect">
            <a:avLst/>
          </a:prstGeom>
          <a:noFill/>
        </p:spPr>
        <p:txBody>
          <a:bodyPr wrap="square" lIns="36576" tIns="18288" rIns="36576" bIns="18288" anchor="t"/>
          <a:lstStyle/>
          <a:p>
            <a:pPr algn="l"/>
            <a:r>
              <a:rPr sz="1300" b="1">
                <a:solidFill>
                  <a:srgbClr val="EFF6FF"/>
                </a:solidFill>
                <a:latin typeface="Aptos"/>
              </a:rPr>
              <a:t>Failed login burst</a:t>
            </a:r>
          </a:p>
        </p:txBody>
      </p:sp>
      <p:sp>
        <p:nvSpPr>
          <p:cNvPr id="28" name="TextBox 27"/>
          <p:cNvSpPr txBox="1"/>
          <p:nvPr/>
        </p:nvSpPr>
        <p:spPr>
          <a:xfrm>
            <a:off x="3401568" y="4901184"/>
            <a:ext cx="731520" cy="201168"/>
          </a:xfrm>
          <a:prstGeom prst="rect">
            <a:avLst/>
          </a:prstGeom>
          <a:noFill/>
        </p:spPr>
        <p:txBody>
          <a:bodyPr wrap="square" lIns="36576" tIns="18288" rIns="36576" bIns="18288" anchor="t"/>
          <a:lstStyle/>
          <a:p>
            <a:pPr algn="r"/>
            <a:r>
              <a:rPr sz="1300" b="1">
                <a:solidFill>
                  <a:srgbClr val="3ED38B"/>
                </a:solidFill>
                <a:latin typeface="Aptos Mono"/>
              </a:rPr>
              <a:t>LOW</a:t>
            </a:r>
          </a:p>
        </p:txBody>
      </p:sp>
      <p:sp>
        <p:nvSpPr>
          <p:cNvPr id="29" name="Rounded Rectangle 28"/>
          <p:cNvSpPr/>
          <p:nvPr/>
        </p:nvSpPr>
        <p:spPr>
          <a:xfrm>
            <a:off x="4754880" y="1901952"/>
            <a:ext cx="2788920" cy="1572768"/>
          </a:xfrm>
          <a:prstGeom prst="roundRect">
            <a:avLst/>
          </a:prstGeom>
          <a:solidFill>
            <a:srgbClr val="101B2D"/>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0" name="TextBox 29"/>
          <p:cNvSpPr txBox="1"/>
          <p:nvPr/>
        </p:nvSpPr>
        <p:spPr>
          <a:xfrm>
            <a:off x="4983480" y="2112264"/>
            <a:ext cx="1645920" cy="164592"/>
          </a:xfrm>
          <a:prstGeom prst="rect">
            <a:avLst/>
          </a:prstGeom>
          <a:noFill/>
        </p:spPr>
        <p:txBody>
          <a:bodyPr wrap="square" lIns="36576" tIns="18288" rIns="36576" bIns="18288" anchor="t"/>
          <a:lstStyle/>
          <a:p>
            <a:pPr algn="l"/>
            <a:r>
              <a:rPr sz="1400" b="1">
                <a:solidFill>
                  <a:srgbClr val="9CAEC6"/>
                </a:solidFill>
                <a:latin typeface="Aptos Mono"/>
              </a:rPr>
              <a:t>RISK DISTRIBUTION</a:t>
            </a:r>
          </a:p>
        </p:txBody>
      </p:sp>
      <p:sp>
        <p:nvSpPr>
          <p:cNvPr id="31" name="Rectangle 30"/>
          <p:cNvSpPr/>
          <p:nvPr/>
        </p:nvSpPr>
        <p:spPr>
          <a:xfrm>
            <a:off x="5074920" y="2905506"/>
            <a:ext cx="292608" cy="148590"/>
          </a:xfrm>
          <a:prstGeom prst="rect">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2" name="TextBox 31"/>
          <p:cNvSpPr txBox="1"/>
          <p:nvPr/>
        </p:nvSpPr>
        <p:spPr>
          <a:xfrm>
            <a:off x="5020056" y="3145536"/>
            <a:ext cx="411480" cy="164592"/>
          </a:xfrm>
          <a:prstGeom prst="rect">
            <a:avLst/>
          </a:prstGeom>
          <a:noFill/>
        </p:spPr>
        <p:txBody>
          <a:bodyPr wrap="square" lIns="36576" tIns="18288" rIns="36576" bIns="18288" anchor="t"/>
          <a:lstStyle/>
          <a:p>
            <a:pPr algn="ctr"/>
            <a:r>
              <a:rPr sz="1300" b="1">
                <a:solidFill>
                  <a:srgbClr val="29D3FF"/>
                </a:solidFill>
                <a:latin typeface="Aptos Mono"/>
              </a:rPr>
              <a:t>LOW</a:t>
            </a:r>
          </a:p>
        </p:txBody>
      </p:sp>
      <p:sp>
        <p:nvSpPr>
          <p:cNvPr id="33" name="Rectangle 32"/>
          <p:cNvSpPr/>
          <p:nvPr/>
        </p:nvSpPr>
        <p:spPr>
          <a:xfrm>
            <a:off x="5614416" y="2804464"/>
            <a:ext cx="292608" cy="249631"/>
          </a:xfrm>
          <a:prstGeom prst="rect">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4" name="TextBox 33"/>
          <p:cNvSpPr txBox="1"/>
          <p:nvPr/>
        </p:nvSpPr>
        <p:spPr>
          <a:xfrm>
            <a:off x="5559552" y="3145536"/>
            <a:ext cx="411480" cy="164592"/>
          </a:xfrm>
          <a:prstGeom prst="rect">
            <a:avLst/>
          </a:prstGeom>
          <a:noFill/>
        </p:spPr>
        <p:txBody>
          <a:bodyPr wrap="square" lIns="36576" tIns="18288" rIns="36576" bIns="18288" anchor="t"/>
          <a:lstStyle/>
          <a:p>
            <a:pPr algn="ctr"/>
            <a:r>
              <a:rPr sz="1300" b="1">
                <a:solidFill>
                  <a:srgbClr val="29D3FF"/>
                </a:solidFill>
                <a:latin typeface="Aptos Mono"/>
              </a:rPr>
              <a:t>MED</a:t>
            </a:r>
          </a:p>
        </p:txBody>
      </p:sp>
      <p:sp>
        <p:nvSpPr>
          <p:cNvPr id="35" name="Rectangle 34"/>
          <p:cNvSpPr/>
          <p:nvPr/>
        </p:nvSpPr>
        <p:spPr>
          <a:xfrm>
            <a:off x="6153912" y="2626156"/>
            <a:ext cx="292608" cy="427939"/>
          </a:xfrm>
          <a:prstGeom prst="rect">
            <a:avLst/>
          </a:prstGeom>
          <a:solidFill>
            <a:srgbClr val="FF9948"/>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6" name="TextBox 35"/>
          <p:cNvSpPr txBox="1"/>
          <p:nvPr/>
        </p:nvSpPr>
        <p:spPr>
          <a:xfrm>
            <a:off x="6099048" y="3145536"/>
            <a:ext cx="411480" cy="164592"/>
          </a:xfrm>
          <a:prstGeom prst="rect">
            <a:avLst/>
          </a:prstGeom>
          <a:noFill/>
        </p:spPr>
        <p:txBody>
          <a:bodyPr wrap="square" lIns="36576" tIns="18288" rIns="36576" bIns="18288" anchor="t"/>
          <a:lstStyle/>
          <a:p>
            <a:pPr algn="ctr"/>
            <a:r>
              <a:rPr sz="1300" b="1">
                <a:solidFill>
                  <a:srgbClr val="FF9948"/>
                </a:solidFill>
                <a:latin typeface="Aptos Mono"/>
              </a:rPr>
              <a:t>HIGH</a:t>
            </a:r>
          </a:p>
        </p:txBody>
      </p:sp>
      <p:sp>
        <p:nvSpPr>
          <p:cNvPr id="37" name="Rectangle 36"/>
          <p:cNvSpPr/>
          <p:nvPr/>
        </p:nvSpPr>
        <p:spPr>
          <a:xfrm>
            <a:off x="6693408" y="2489454"/>
            <a:ext cx="292608" cy="564642"/>
          </a:xfrm>
          <a:prstGeom prst="rect">
            <a:avLst/>
          </a:prstGeom>
          <a:solidFill>
            <a:srgbClr val="FF4A4A"/>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8" name="TextBox 37"/>
          <p:cNvSpPr txBox="1"/>
          <p:nvPr/>
        </p:nvSpPr>
        <p:spPr>
          <a:xfrm>
            <a:off x="6638544" y="3145536"/>
            <a:ext cx="411480" cy="164592"/>
          </a:xfrm>
          <a:prstGeom prst="rect">
            <a:avLst/>
          </a:prstGeom>
          <a:noFill/>
        </p:spPr>
        <p:txBody>
          <a:bodyPr wrap="square" lIns="36576" tIns="18288" rIns="36576" bIns="18288" anchor="t"/>
          <a:lstStyle/>
          <a:p>
            <a:pPr algn="ctr"/>
            <a:r>
              <a:rPr sz="1300" b="1">
                <a:solidFill>
                  <a:srgbClr val="FF4A4A"/>
                </a:solidFill>
                <a:latin typeface="Aptos Mono"/>
              </a:rPr>
              <a:t>CRIT</a:t>
            </a:r>
          </a:p>
        </p:txBody>
      </p:sp>
      <p:sp>
        <p:nvSpPr>
          <p:cNvPr id="39" name="Rounded Rectangle 38"/>
          <p:cNvSpPr/>
          <p:nvPr/>
        </p:nvSpPr>
        <p:spPr>
          <a:xfrm>
            <a:off x="7754112" y="1901952"/>
            <a:ext cx="3547872" cy="1572768"/>
          </a:xfrm>
          <a:prstGeom prst="roundRect">
            <a:avLst/>
          </a:prstGeom>
          <a:solidFill>
            <a:srgbClr val="101B2D"/>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0" name="TextBox 39"/>
          <p:cNvSpPr txBox="1"/>
          <p:nvPr/>
        </p:nvSpPr>
        <p:spPr>
          <a:xfrm>
            <a:off x="7982712" y="2112264"/>
            <a:ext cx="1920240" cy="164592"/>
          </a:xfrm>
          <a:prstGeom prst="rect">
            <a:avLst/>
          </a:prstGeom>
          <a:noFill/>
        </p:spPr>
        <p:txBody>
          <a:bodyPr wrap="square" lIns="36576" tIns="18288" rIns="36576" bIns="18288" anchor="t"/>
          <a:lstStyle/>
          <a:p>
            <a:pPr algn="l"/>
            <a:r>
              <a:rPr sz="1400" b="1">
                <a:solidFill>
                  <a:srgbClr val="9CAEC6"/>
                </a:solidFill>
                <a:latin typeface="Aptos Mono"/>
              </a:rPr>
              <a:t>IOC / ASSET CONTEXT</a:t>
            </a:r>
          </a:p>
        </p:txBody>
      </p:sp>
      <p:sp>
        <p:nvSpPr>
          <p:cNvPr id="41" name="TextBox 40"/>
          <p:cNvSpPr txBox="1"/>
          <p:nvPr/>
        </p:nvSpPr>
        <p:spPr>
          <a:xfrm>
            <a:off x="7982712" y="2487168"/>
            <a:ext cx="1554480" cy="210312"/>
          </a:xfrm>
          <a:prstGeom prst="rect">
            <a:avLst/>
          </a:prstGeom>
          <a:noFill/>
        </p:spPr>
        <p:txBody>
          <a:bodyPr wrap="square" lIns="36576" tIns="18288" rIns="36576" bIns="18288" anchor="t"/>
          <a:lstStyle/>
          <a:p>
            <a:pPr algn="l"/>
            <a:r>
              <a:rPr sz="1300" b="1">
                <a:solidFill>
                  <a:srgbClr val="EFF6FF"/>
                </a:solidFill>
                <a:latin typeface="Aptos Mono"/>
              </a:rPr>
              <a:t>185.199.xx.xx</a:t>
            </a:r>
          </a:p>
        </p:txBody>
      </p:sp>
      <p:sp>
        <p:nvSpPr>
          <p:cNvPr id="42" name="Rounded Rectangle 41"/>
          <p:cNvSpPr/>
          <p:nvPr/>
        </p:nvSpPr>
        <p:spPr>
          <a:xfrm>
            <a:off x="9674352" y="2459736"/>
            <a:ext cx="1051560" cy="274320"/>
          </a:xfrm>
          <a:prstGeom prst="roundRect">
            <a:avLst/>
          </a:prstGeom>
          <a:solidFill>
            <a:srgbClr val="142338"/>
          </a:solidFill>
          <a:ln w="12700">
            <a:solidFill>
              <a:srgbClr val="FF4A4A"/>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3" name="TextBox 42"/>
          <p:cNvSpPr txBox="1"/>
          <p:nvPr/>
        </p:nvSpPr>
        <p:spPr>
          <a:xfrm>
            <a:off x="9674352" y="2473452"/>
            <a:ext cx="1051560" cy="228600"/>
          </a:xfrm>
          <a:prstGeom prst="rect">
            <a:avLst/>
          </a:prstGeom>
          <a:noFill/>
        </p:spPr>
        <p:txBody>
          <a:bodyPr wrap="square" lIns="36576" tIns="18288" rIns="36576" bIns="18288" anchor="ctr"/>
          <a:lstStyle/>
          <a:p>
            <a:pPr algn="ctr"/>
            <a:r>
              <a:rPr sz="1300" b="1">
                <a:solidFill>
                  <a:srgbClr val="FF4A4A"/>
                </a:solidFill>
                <a:latin typeface="Aptos Mono"/>
              </a:rPr>
              <a:t>MALICIOUS</a:t>
            </a:r>
          </a:p>
        </p:txBody>
      </p:sp>
      <p:sp>
        <p:nvSpPr>
          <p:cNvPr id="44" name="TextBox 43"/>
          <p:cNvSpPr txBox="1"/>
          <p:nvPr/>
        </p:nvSpPr>
        <p:spPr>
          <a:xfrm>
            <a:off x="7982712" y="2862072"/>
            <a:ext cx="1554480" cy="210312"/>
          </a:xfrm>
          <a:prstGeom prst="rect">
            <a:avLst/>
          </a:prstGeom>
          <a:noFill/>
        </p:spPr>
        <p:txBody>
          <a:bodyPr wrap="square" lIns="36576" tIns="18288" rIns="36576" bIns="18288" anchor="t"/>
          <a:lstStyle/>
          <a:p>
            <a:pPr algn="l"/>
            <a:r>
              <a:rPr sz="1300" b="1">
                <a:solidFill>
                  <a:srgbClr val="EFF6FF"/>
                </a:solidFill>
                <a:latin typeface="Aptos"/>
              </a:rPr>
              <a:t>Domain Controller</a:t>
            </a:r>
          </a:p>
        </p:txBody>
      </p:sp>
      <p:sp>
        <p:nvSpPr>
          <p:cNvPr id="45" name="Rounded Rectangle 44"/>
          <p:cNvSpPr/>
          <p:nvPr/>
        </p:nvSpPr>
        <p:spPr>
          <a:xfrm>
            <a:off x="9674352" y="2766060"/>
            <a:ext cx="1088136" cy="434338"/>
          </a:xfrm>
          <a:prstGeom prst="roundRect">
            <a:avLst/>
          </a:prstGeom>
          <a:solidFill>
            <a:srgbClr val="142338"/>
          </a:solidFill>
          <a:ln w="12700">
            <a:solidFill>
              <a:srgbClr val="FF994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6" name="TextBox 45"/>
          <p:cNvSpPr txBox="1"/>
          <p:nvPr/>
        </p:nvSpPr>
        <p:spPr>
          <a:xfrm>
            <a:off x="9674352" y="2848356"/>
            <a:ext cx="1051560" cy="228600"/>
          </a:xfrm>
          <a:prstGeom prst="rect">
            <a:avLst/>
          </a:prstGeom>
          <a:noFill/>
        </p:spPr>
        <p:txBody>
          <a:bodyPr wrap="square" lIns="36576" tIns="18288" rIns="36576" bIns="18288" anchor="ctr"/>
          <a:lstStyle/>
          <a:p>
            <a:pPr algn="ctr"/>
            <a:r>
              <a:rPr sz="1300" b="1">
                <a:solidFill>
                  <a:srgbClr val="FF9948"/>
                </a:solidFill>
                <a:latin typeface="Aptos Mono"/>
              </a:rPr>
              <a:t>CRITICAL ASSET</a:t>
            </a:r>
          </a:p>
        </p:txBody>
      </p:sp>
      <p:sp>
        <p:nvSpPr>
          <p:cNvPr id="47" name="Rounded Rectangle 46"/>
          <p:cNvSpPr/>
          <p:nvPr/>
        </p:nvSpPr>
        <p:spPr>
          <a:xfrm>
            <a:off x="4754880" y="3675886"/>
            <a:ext cx="6547104" cy="2367561"/>
          </a:xfrm>
          <a:prstGeom prst="roundRect">
            <a:avLst/>
          </a:prstGeom>
          <a:solidFill>
            <a:srgbClr val="101B2D"/>
          </a:solidFill>
          <a:ln w="12700">
            <a:solidFill>
              <a:srgbClr val="29D3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8" name="TextBox 47"/>
          <p:cNvSpPr txBox="1"/>
          <p:nvPr/>
        </p:nvSpPr>
        <p:spPr>
          <a:xfrm>
            <a:off x="5001768" y="3904487"/>
            <a:ext cx="1554480" cy="164592"/>
          </a:xfrm>
          <a:prstGeom prst="rect">
            <a:avLst/>
          </a:prstGeom>
          <a:noFill/>
        </p:spPr>
        <p:txBody>
          <a:bodyPr wrap="square" lIns="36576" tIns="18288" rIns="36576" bIns="18288" anchor="t"/>
          <a:lstStyle/>
          <a:p>
            <a:pPr algn="l"/>
            <a:r>
              <a:rPr sz="1400" b="1">
                <a:solidFill>
                  <a:srgbClr val="29D3FF"/>
                </a:solidFill>
                <a:latin typeface="Aptos Mono"/>
              </a:rPr>
              <a:t>AI EXPLANATION</a:t>
            </a:r>
          </a:p>
        </p:txBody>
      </p:sp>
      <p:sp>
        <p:nvSpPr>
          <p:cNvPr id="49" name="TextBox 48"/>
          <p:cNvSpPr txBox="1"/>
          <p:nvPr/>
        </p:nvSpPr>
        <p:spPr>
          <a:xfrm>
            <a:off x="5001768" y="4251960"/>
            <a:ext cx="2743200" cy="256032"/>
          </a:xfrm>
          <a:prstGeom prst="rect">
            <a:avLst/>
          </a:prstGeom>
          <a:noFill/>
        </p:spPr>
        <p:txBody>
          <a:bodyPr wrap="square" lIns="36576" tIns="18288" rIns="36576" bIns="18288" anchor="t"/>
          <a:lstStyle/>
          <a:p>
            <a:pPr algn="l"/>
            <a:r>
              <a:rPr sz="1400" b="1">
                <a:solidFill>
                  <a:srgbClr val="EFF6FF"/>
                </a:solidFill>
                <a:latin typeface="Aptos"/>
              </a:rPr>
              <a:t>Why this alert matters</a:t>
            </a:r>
          </a:p>
        </p:txBody>
      </p:sp>
      <p:sp>
        <p:nvSpPr>
          <p:cNvPr id="50" name="TextBox 49"/>
          <p:cNvSpPr txBox="1"/>
          <p:nvPr/>
        </p:nvSpPr>
        <p:spPr>
          <a:xfrm>
            <a:off x="5001768" y="4608576"/>
            <a:ext cx="5760720" cy="530352"/>
          </a:xfrm>
          <a:prstGeom prst="rect">
            <a:avLst/>
          </a:prstGeom>
          <a:noFill/>
        </p:spPr>
        <p:txBody>
          <a:bodyPr wrap="square" lIns="36576" tIns="18288" rIns="36576" bIns="18288" anchor="t"/>
          <a:lstStyle/>
          <a:p>
            <a:pPr algn="l"/>
            <a:r>
              <a:rPr sz="1400" b="0">
                <a:solidFill>
                  <a:srgbClr val="9CAEC6"/>
                </a:solidFill>
                <a:latin typeface="Aptos"/>
              </a:rPr>
              <a:t>The suspicious PowerShell activity targets a critical domain controller and matches a malicious IOC. The correlated sequence increases confidence that this is part of a multi-stage attack.</a:t>
            </a:r>
          </a:p>
        </p:txBody>
      </p:sp>
      <p:sp>
        <p:nvSpPr>
          <p:cNvPr id="51" name="TextBox 50"/>
          <p:cNvSpPr txBox="1"/>
          <p:nvPr/>
        </p:nvSpPr>
        <p:spPr>
          <a:xfrm>
            <a:off x="5001768" y="5285232"/>
            <a:ext cx="1645920" cy="164592"/>
          </a:xfrm>
          <a:prstGeom prst="rect">
            <a:avLst/>
          </a:prstGeom>
          <a:noFill/>
        </p:spPr>
        <p:txBody>
          <a:bodyPr wrap="square" lIns="36576" tIns="18288" rIns="36576" bIns="18288" anchor="t"/>
          <a:lstStyle/>
          <a:p>
            <a:pPr algn="l"/>
            <a:r>
              <a:rPr sz="1400" b="1" dirty="0">
                <a:solidFill>
                  <a:srgbClr val="9CAEC6"/>
                </a:solidFill>
                <a:latin typeface="Aptos Mono"/>
              </a:rPr>
              <a:t> STEPS</a:t>
            </a:r>
          </a:p>
        </p:txBody>
      </p:sp>
      <p:sp>
        <p:nvSpPr>
          <p:cNvPr id="52" name="TextBox 51"/>
          <p:cNvSpPr txBox="1"/>
          <p:nvPr/>
        </p:nvSpPr>
        <p:spPr>
          <a:xfrm>
            <a:off x="5001768" y="5532120"/>
            <a:ext cx="2697480" cy="182880"/>
          </a:xfrm>
          <a:prstGeom prst="rect">
            <a:avLst/>
          </a:prstGeom>
          <a:noFill/>
        </p:spPr>
        <p:txBody>
          <a:bodyPr wrap="square" lIns="36576" tIns="18288" rIns="36576" bIns="18288" anchor="t"/>
          <a:lstStyle/>
          <a:p>
            <a:pPr algn="l"/>
            <a:r>
              <a:rPr sz="1300" b="1">
                <a:solidFill>
                  <a:srgbClr val="EFF6FF"/>
                </a:solidFill>
                <a:latin typeface="Aptos"/>
              </a:rPr>
              <a:t>1. Validate process tree</a:t>
            </a:r>
          </a:p>
        </p:txBody>
      </p:sp>
      <p:sp>
        <p:nvSpPr>
          <p:cNvPr id="53" name="TextBox 52"/>
          <p:cNvSpPr txBox="1"/>
          <p:nvPr/>
        </p:nvSpPr>
        <p:spPr>
          <a:xfrm>
            <a:off x="7973567" y="5532120"/>
            <a:ext cx="2697480" cy="182880"/>
          </a:xfrm>
          <a:prstGeom prst="rect">
            <a:avLst/>
          </a:prstGeom>
          <a:noFill/>
        </p:spPr>
        <p:txBody>
          <a:bodyPr wrap="square" lIns="36576" tIns="18288" rIns="36576" bIns="18288" anchor="t"/>
          <a:lstStyle/>
          <a:p>
            <a:pPr algn="l"/>
            <a:r>
              <a:rPr sz="1300" b="1">
                <a:solidFill>
                  <a:srgbClr val="EFF6FF"/>
                </a:solidFill>
                <a:latin typeface="Aptos"/>
              </a:rPr>
              <a:t>2. Check account activity</a:t>
            </a:r>
          </a:p>
        </p:txBody>
      </p:sp>
      <p:sp>
        <p:nvSpPr>
          <p:cNvPr id="54" name="TextBox 53"/>
          <p:cNvSpPr txBox="1"/>
          <p:nvPr/>
        </p:nvSpPr>
        <p:spPr>
          <a:xfrm>
            <a:off x="5001768" y="5779008"/>
            <a:ext cx="2697480" cy="182880"/>
          </a:xfrm>
          <a:prstGeom prst="rect">
            <a:avLst/>
          </a:prstGeom>
          <a:noFill/>
        </p:spPr>
        <p:txBody>
          <a:bodyPr wrap="square" lIns="36576" tIns="18288" rIns="36576" bIns="18288" anchor="t"/>
          <a:lstStyle/>
          <a:p>
            <a:pPr algn="l"/>
            <a:r>
              <a:rPr sz="1300" b="1">
                <a:solidFill>
                  <a:srgbClr val="EFF6FF"/>
                </a:solidFill>
                <a:latin typeface="Aptos"/>
              </a:rPr>
              <a:t>3. Review lateral movement</a:t>
            </a:r>
          </a:p>
        </p:txBody>
      </p:sp>
      <p:sp>
        <p:nvSpPr>
          <p:cNvPr id="55" name="TextBox 54"/>
          <p:cNvSpPr txBox="1"/>
          <p:nvPr/>
        </p:nvSpPr>
        <p:spPr>
          <a:xfrm>
            <a:off x="7973567" y="5779008"/>
            <a:ext cx="2697480" cy="182880"/>
          </a:xfrm>
          <a:prstGeom prst="rect">
            <a:avLst/>
          </a:prstGeom>
          <a:noFill/>
        </p:spPr>
        <p:txBody>
          <a:bodyPr wrap="square" lIns="36576" tIns="18288" rIns="36576" bIns="18288" anchor="t"/>
          <a:lstStyle/>
          <a:p>
            <a:pPr algn="l"/>
            <a:r>
              <a:rPr sz="1300" b="1">
                <a:solidFill>
                  <a:srgbClr val="EFF6FF"/>
                </a:solidFill>
                <a:latin typeface="Aptos"/>
              </a:rPr>
              <a:t>4. Inspect outbound traffic</a:t>
            </a:r>
          </a:p>
        </p:txBody>
      </p:sp>
      <p:sp>
        <p:nvSpPr>
          <p:cNvPr id="56" name="Oval 55"/>
          <p:cNvSpPr/>
          <p:nvPr/>
        </p:nvSpPr>
        <p:spPr>
          <a:xfrm>
            <a:off x="914400" y="850392"/>
            <a:ext cx="246888" cy="246888"/>
          </a:xfrm>
          <a:prstGeom prst="ellipse">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57" name="TextBox 56"/>
          <p:cNvSpPr txBox="1"/>
          <p:nvPr/>
        </p:nvSpPr>
        <p:spPr>
          <a:xfrm>
            <a:off x="914400" y="859536"/>
            <a:ext cx="246888" cy="164592"/>
          </a:xfrm>
          <a:prstGeom prst="rect">
            <a:avLst/>
          </a:prstGeom>
          <a:noFill/>
        </p:spPr>
        <p:txBody>
          <a:bodyPr wrap="square" lIns="36576" tIns="18288" rIns="36576" bIns="18288" anchor="t"/>
          <a:lstStyle/>
          <a:p>
            <a:pPr algn="ctr"/>
            <a:r>
              <a:rPr sz="1300" b="1">
                <a:solidFill>
                  <a:srgbClr val="060C16"/>
                </a:solidFill>
                <a:latin typeface="Aptos Mono"/>
              </a:rPr>
              <a:t>1</a:t>
            </a:r>
          </a:p>
        </p:txBody>
      </p:sp>
      <p:sp>
        <p:nvSpPr>
          <p:cNvPr id="58" name="Oval 57"/>
          <p:cNvSpPr/>
          <p:nvPr/>
        </p:nvSpPr>
        <p:spPr>
          <a:xfrm>
            <a:off x="1828800" y="10332720"/>
            <a:ext cx="246888" cy="246888"/>
          </a:xfrm>
          <a:prstGeom prst="ellipse">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59" name="TextBox 58"/>
          <p:cNvSpPr txBox="1"/>
          <p:nvPr/>
        </p:nvSpPr>
        <p:spPr>
          <a:xfrm>
            <a:off x="1828800" y="10341864"/>
            <a:ext cx="246888" cy="164592"/>
          </a:xfrm>
          <a:prstGeom prst="rect">
            <a:avLst/>
          </a:prstGeom>
          <a:noFill/>
        </p:spPr>
        <p:txBody>
          <a:bodyPr wrap="square" lIns="36576" tIns="18288" rIns="36576" bIns="18288" anchor="t"/>
          <a:lstStyle/>
          <a:p>
            <a:pPr algn="ctr"/>
            <a:r>
              <a:rPr sz="1300" b="1">
                <a:solidFill>
                  <a:srgbClr val="060C16"/>
                </a:solidFill>
                <a:latin typeface="Aptos Mono"/>
              </a:rPr>
              <a:t>2</a:t>
            </a:r>
          </a:p>
        </p:txBody>
      </p:sp>
      <p:sp>
        <p:nvSpPr>
          <p:cNvPr id="60" name="Oval 59"/>
          <p:cNvSpPr/>
          <p:nvPr/>
        </p:nvSpPr>
        <p:spPr>
          <a:xfrm>
            <a:off x="2743200" y="8001000"/>
            <a:ext cx="246888" cy="246888"/>
          </a:xfrm>
          <a:prstGeom prst="ellipse">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61" name="TextBox 60"/>
          <p:cNvSpPr txBox="1"/>
          <p:nvPr/>
        </p:nvSpPr>
        <p:spPr>
          <a:xfrm>
            <a:off x="2743200" y="8010144"/>
            <a:ext cx="246888" cy="164592"/>
          </a:xfrm>
          <a:prstGeom prst="rect">
            <a:avLst/>
          </a:prstGeom>
          <a:noFill/>
        </p:spPr>
        <p:txBody>
          <a:bodyPr wrap="square" lIns="36576" tIns="18288" rIns="36576" bIns="18288" anchor="t"/>
          <a:lstStyle/>
          <a:p>
            <a:pPr algn="ctr"/>
            <a:r>
              <a:rPr sz="1300" b="1">
                <a:solidFill>
                  <a:srgbClr val="060C16"/>
                </a:solidFill>
                <a:latin typeface="Aptos Mono"/>
              </a:rPr>
              <a:t>3</a:t>
            </a:r>
          </a:p>
        </p:txBody>
      </p:sp>
      <p:sp>
        <p:nvSpPr>
          <p:cNvPr id="62" name="Oval 61"/>
          <p:cNvSpPr/>
          <p:nvPr/>
        </p:nvSpPr>
        <p:spPr>
          <a:xfrm>
            <a:off x="3657600" y="10561320"/>
            <a:ext cx="246888" cy="246888"/>
          </a:xfrm>
          <a:prstGeom prst="ellipse">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63" name="TextBox 62"/>
          <p:cNvSpPr txBox="1"/>
          <p:nvPr/>
        </p:nvSpPr>
        <p:spPr>
          <a:xfrm>
            <a:off x="3657600" y="10570464"/>
            <a:ext cx="246888" cy="164592"/>
          </a:xfrm>
          <a:prstGeom prst="rect">
            <a:avLst/>
          </a:prstGeom>
          <a:noFill/>
        </p:spPr>
        <p:txBody>
          <a:bodyPr wrap="square" lIns="36576" tIns="18288" rIns="36576" bIns="18288" anchor="t"/>
          <a:lstStyle/>
          <a:p>
            <a:pPr algn="ctr"/>
            <a:r>
              <a:rPr sz="1300" b="1">
                <a:solidFill>
                  <a:srgbClr val="060C16"/>
                </a:solidFill>
                <a:latin typeface="Aptos Mono"/>
              </a:rPr>
              <a:t>4</a:t>
            </a:r>
          </a:p>
        </p:txBody>
      </p:sp>
      <p:sp>
        <p:nvSpPr>
          <p:cNvPr id="64" name="Rounded Rectangle 63"/>
          <p:cNvSpPr/>
          <p:nvPr/>
        </p:nvSpPr>
        <p:spPr>
          <a:xfrm>
            <a:off x="713232" y="6236208"/>
            <a:ext cx="1645920" cy="411480"/>
          </a:xfrm>
          <a:prstGeom prst="roundRect">
            <a:avLst/>
          </a:prstGeom>
          <a:solidFill>
            <a:srgbClr val="060C16"/>
          </a:solidFill>
          <a:ln w="12700">
            <a:solidFill>
              <a:srgbClr val="29D3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65" name="TextBox 64"/>
          <p:cNvSpPr txBox="1"/>
          <p:nvPr/>
        </p:nvSpPr>
        <p:spPr>
          <a:xfrm>
            <a:off x="713232" y="6387083"/>
            <a:ext cx="1645920" cy="228600"/>
          </a:xfrm>
          <a:prstGeom prst="rect">
            <a:avLst/>
          </a:prstGeom>
          <a:noFill/>
        </p:spPr>
        <p:txBody>
          <a:bodyPr wrap="square" lIns="36576" tIns="18288" rIns="36576" bIns="18288" anchor="ctr"/>
          <a:lstStyle/>
          <a:p>
            <a:pPr algn="ctr"/>
            <a:r>
              <a:rPr sz="1300" b="1">
                <a:solidFill>
                  <a:srgbClr val="29D3FF"/>
                </a:solidFill>
                <a:latin typeface="Aptos Mono"/>
              </a:rPr>
              <a:t>SELECT CRITICAL ALERT</a:t>
            </a:r>
          </a:p>
        </p:txBody>
      </p:sp>
      <p:sp>
        <p:nvSpPr>
          <p:cNvPr id="66" name="Rounded Rectangle 65"/>
          <p:cNvSpPr/>
          <p:nvPr/>
        </p:nvSpPr>
        <p:spPr>
          <a:xfrm>
            <a:off x="2468880" y="6300216"/>
            <a:ext cx="1508760" cy="411480"/>
          </a:xfrm>
          <a:prstGeom prst="roundRect">
            <a:avLst/>
          </a:prstGeom>
          <a:solidFill>
            <a:srgbClr val="060C16"/>
          </a:solidFill>
          <a:ln w="12700">
            <a:solidFill>
              <a:srgbClr val="29D3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67" name="TextBox 66"/>
          <p:cNvSpPr txBox="1"/>
          <p:nvPr/>
        </p:nvSpPr>
        <p:spPr>
          <a:xfrm>
            <a:off x="2468880" y="6387083"/>
            <a:ext cx="1435608" cy="214885"/>
          </a:xfrm>
          <a:prstGeom prst="rect">
            <a:avLst/>
          </a:prstGeom>
          <a:noFill/>
        </p:spPr>
        <p:txBody>
          <a:bodyPr wrap="square" lIns="36576" tIns="18288" rIns="36576" bIns="18288" anchor="ctr"/>
          <a:lstStyle/>
          <a:p>
            <a:pPr algn="ctr"/>
            <a:r>
              <a:rPr sz="1300" b="1">
                <a:solidFill>
                  <a:srgbClr val="29D3FF"/>
                </a:solidFill>
                <a:latin typeface="Aptos Mono"/>
              </a:rPr>
              <a:t>→ REVIEW EVIDENCE</a:t>
            </a:r>
          </a:p>
        </p:txBody>
      </p:sp>
      <p:sp>
        <p:nvSpPr>
          <p:cNvPr id="68" name="Rounded Rectangle 67"/>
          <p:cNvSpPr/>
          <p:nvPr/>
        </p:nvSpPr>
        <p:spPr>
          <a:xfrm>
            <a:off x="4096512" y="6318504"/>
            <a:ext cx="1353312" cy="384048"/>
          </a:xfrm>
          <a:prstGeom prst="roundRect">
            <a:avLst/>
          </a:prstGeom>
          <a:solidFill>
            <a:srgbClr val="060C16"/>
          </a:solidFill>
          <a:ln w="12700">
            <a:solidFill>
              <a:srgbClr val="29D3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69" name="TextBox 68"/>
          <p:cNvSpPr txBox="1"/>
          <p:nvPr/>
        </p:nvSpPr>
        <p:spPr>
          <a:xfrm>
            <a:off x="4096512" y="6387083"/>
            <a:ext cx="1353312" cy="228600"/>
          </a:xfrm>
          <a:prstGeom prst="rect">
            <a:avLst/>
          </a:prstGeom>
          <a:noFill/>
        </p:spPr>
        <p:txBody>
          <a:bodyPr wrap="square" lIns="36576" tIns="18288" rIns="36576" bIns="18288" anchor="ctr"/>
          <a:lstStyle/>
          <a:p>
            <a:pPr algn="ctr"/>
            <a:r>
              <a:rPr sz="1300" b="1">
                <a:solidFill>
                  <a:srgbClr val="29D3FF"/>
                </a:solidFill>
                <a:latin typeface="Aptos Mono"/>
              </a:rPr>
              <a:t>→ FOLLOW STEPS</a:t>
            </a:r>
          </a:p>
        </p:txBody>
      </p:sp>
      <p:sp>
        <p:nvSpPr>
          <p:cNvPr id="70" name="Rounded Rectangle 69"/>
          <p:cNvSpPr/>
          <p:nvPr/>
        </p:nvSpPr>
        <p:spPr>
          <a:xfrm>
            <a:off x="5568696" y="6309360"/>
            <a:ext cx="1353312" cy="448056"/>
          </a:xfrm>
          <a:prstGeom prst="roundRect">
            <a:avLst/>
          </a:prstGeom>
          <a:solidFill>
            <a:srgbClr val="060C16"/>
          </a:solidFill>
          <a:ln w="12700">
            <a:solidFill>
              <a:srgbClr val="3ED38B"/>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71" name="TextBox 70"/>
          <p:cNvSpPr txBox="1"/>
          <p:nvPr/>
        </p:nvSpPr>
        <p:spPr>
          <a:xfrm>
            <a:off x="5568696" y="6387083"/>
            <a:ext cx="1280160" cy="228600"/>
          </a:xfrm>
          <a:prstGeom prst="rect">
            <a:avLst/>
          </a:prstGeom>
          <a:noFill/>
        </p:spPr>
        <p:txBody>
          <a:bodyPr wrap="square" lIns="36576" tIns="18288" rIns="36576" bIns="18288" anchor="ctr"/>
          <a:lstStyle/>
          <a:p>
            <a:pPr algn="ctr"/>
            <a:r>
              <a:rPr sz="1300" b="1">
                <a:solidFill>
                  <a:srgbClr val="3ED38B"/>
                </a:solidFill>
                <a:latin typeface="Aptos Mono"/>
              </a:rPr>
              <a:t>→ TAKE ACTION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101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 name="TextBox 2"/>
          <p:cNvSpPr txBox="1"/>
          <p:nvPr/>
        </p:nvSpPr>
        <p:spPr>
          <a:xfrm>
            <a:off x="594360" y="347472"/>
            <a:ext cx="2926080" cy="228600"/>
          </a:xfrm>
          <a:prstGeom prst="rect">
            <a:avLst/>
          </a:prstGeom>
          <a:noFill/>
        </p:spPr>
        <p:txBody>
          <a:bodyPr wrap="square" lIns="36576" tIns="18288" rIns="36576" bIns="18288" anchor="t"/>
          <a:lstStyle/>
          <a:p>
            <a:pPr algn="l"/>
            <a:r>
              <a:rPr sz="1300" b="1">
                <a:solidFill>
                  <a:srgbClr val="29D3FF"/>
                </a:solidFill>
                <a:latin typeface="Aptos Mono"/>
              </a:rPr>
              <a:t>06 / IBM TECHNOLOGY</a:t>
            </a:r>
          </a:p>
        </p:txBody>
      </p:sp>
      <p:sp>
        <p:nvSpPr>
          <p:cNvPr id="4" name="TextBox 3"/>
          <p:cNvSpPr txBox="1"/>
          <p:nvPr/>
        </p:nvSpPr>
        <p:spPr>
          <a:xfrm>
            <a:off x="594360" y="658368"/>
            <a:ext cx="10972800" cy="566928"/>
          </a:xfrm>
          <a:prstGeom prst="rect">
            <a:avLst/>
          </a:prstGeom>
          <a:noFill/>
        </p:spPr>
        <p:txBody>
          <a:bodyPr wrap="square" lIns="36576" tIns="18288" rIns="36576" bIns="18288" anchor="t"/>
          <a:lstStyle/>
          <a:p>
            <a:pPr algn="l"/>
            <a:r>
              <a:rPr sz="2800" b="1">
                <a:solidFill>
                  <a:srgbClr val="EFF6FF"/>
                </a:solidFill>
                <a:latin typeface="Aptos"/>
              </a:rPr>
              <a:t>IBM watsonx.ai Integration</a:t>
            </a:r>
          </a:p>
        </p:txBody>
      </p:sp>
      <p:sp>
        <p:nvSpPr>
          <p:cNvPr id="5" name="TextBox 4"/>
          <p:cNvSpPr txBox="1"/>
          <p:nvPr/>
        </p:nvSpPr>
        <p:spPr>
          <a:xfrm>
            <a:off x="621792" y="1307592"/>
            <a:ext cx="10789920" cy="384048"/>
          </a:xfrm>
          <a:prstGeom prst="rect">
            <a:avLst/>
          </a:prstGeom>
          <a:noFill/>
        </p:spPr>
        <p:txBody>
          <a:bodyPr wrap="square" lIns="36576" tIns="18288" rIns="36576" bIns="18288" anchor="t"/>
          <a:lstStyle/>
          <a:p>
            <a:pPr algn="l"/>
            <a:r>
              <a:rPr sz="1400" b="1">
                <a:solidFill>
                  <a:srgbClr val="EFF6FF"/>
                </a:solidFill>
                <a:latin typeface="Aptos"/>
              </a:rPr>
              <a:t>IBM watsonx.ai makes security decisions understandable and actionable.</a:t>
            </a:r>
          </a:p>
        </p:txBody>
      </p:sp>
      <p:sp>
        <p:nvSpPr>
          <p:cNvPr id="6" name="Rounded Rectangle 5"/>
          <p:cNvSpPr/>
          <p:nvPr/>
        </p:nvSpPr>
        <p:spPr>
          <a:xfrm>
            <a:off x="658368" y="1938528"/>
            <a:ext cx="3154680" cy="3520440"/>
          </a:xfrm>
          <a:prstGeom prst="roundRect">
            <a:avLst/>
          </a:prstGeom>
          <a:solidFill>
            <a:srgbClr val="101B2D"/>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7" name="TextBox 6"/>
          <p:cNvSpPr txBox="1"/>
          <p:nvPr/>
        </p:nvSpPr>
        <p:spPr>
          <a:xfrm>
            <a:off x="896112" y="2194560"/>
            <a:ext cx="2286000" cy="182880"/>
          </a:xfrm>
          <a:prstGeom prst="rect">
            <a:avLst/>
          </a:prstGeom>
          <a:noFill/>
        </p:spPr>
        <p:txBody>
          <a:bodyPr wrap="square" lIns="36576" tIns="18288" rIns="36576" bIns="18288" anchor="t"/>
          <a:lstStyle/>
          <a:p>
            <a:pPr algn="l"/>
            <a:r>
              <a:rPr sz="1300" b="1">
                <a:solidFill>
                  <a:srgbClr val="29D3FF"/>
                </a:solidFill>
                <a:latin typeface="Aptos Mono"/>
              </a:rPr>
              <a:t>THREATNEXUS EVIDENCE</a:t>
            </a:r>
          </a:p>
        </p:txBody>
      </p:sp>
      <p:sp>
        <p:nvSpPr>
          <p:cNvPr id="8" name="TextBox 7"/>
          <p:cNvSpPr txBox="1"/>
          <p:nvPr/>
        </p:nvSpPr>
        <p:spPr>
          <a:xfrm>
            <a:off x="896112" y="2615184"/>
            <a:ext cx="1097280" cy="164592"/>
          </a:xfrm>
          <a:prstGeom prst="rect">
            <a:avLst/>
          </a:prstGeom>
          <a:noFill/>
        </p:spPr>
        <p:txBody>
          <a:bodyPr wrap="square" lIns="36576" tIns="18288" rIns="36576" bIns="18288" anchor="t"/>
          <a:lstStyle/>
          <a:p>
            <a:pPr algn="l"/>
            <a:r>
              <a:rPr sz="1300" b="1">
                <a:solidFill>
                  <a:srgbClr val="9CAEC6"/>
                </a:solidFill>
                <a:latin typeface="Aptos Mono"/>
              </a:rPr>
              <a:t>Alert metadata</a:t>
            </a:r>
          </a:p>
        </p:txBody>
      </p:sp>
      <p:sp>
        <p:nvSpPr>
          <p:cNvPr id="9" name="TextBox 8"/>
          <p:cNvSpPr txBox="1"/>
          <p:nvPr/>
        </p:nvSpPr>
        <p:spPr>
          <a:xfrm>
            <a:off x="1938528" y="2615184"/>
            <a:ext cx="1572768" cy="201168"/>
          </a:xfrm>
          <a:prstGeom prst="rect">
            <a:avLst/>
          </a:prstGeom>
          <a:noFill/>
        </p:spPr>
        <p:txBody>
          <a:bodyPr wrap="square" lIns="36576" tIns="18288" rIns="36576" bIns="18288" anchor="t"/>
          <a:lstStyle/>
          <a:p>
            <a:pPr algn="r"/>
            <a:r>
              <a:rPr sz="1300" b="1">
                <a:solidFill>
                  <a:srgbClr val="EFF6FF"/>
                </a:solidFill>
                <a:latin typeface="Aptos"/>
              </a:rPr>
              <a:t>PowerShell / login</a:t>
            </a:r>
          </a:p>
        </p:txBody>
      </p:sp>
      <p:sp>
        <p:nvSpPr>
          <p:cNvPr id="10" name="TextBox 9"/>
          <p:cNvSpPr txBox="1"/>
          <p:nvPr/>
        </p:nvSpPr>
        <p:spPr>
          <a:xfrm>
            <a:off x="896112" y="3209544"/>
            <a:ext cx="1097280" cy="164592"/>
          </a:xfrm>
          <a:prstGeom prst="rect">
            <a:avLst/>
          </a:prstGeom>
          <a:noFill/>
        </p:spPr>
        <p:txBody>
          <a:bodyPr wrap="square" lIns="36576" tIns="18288" rIns="36576" bIns="18288" anchor="t"/>
          <a:lstStyle/>
          <a:p>
            <a:pPr algn="l"/>
            <a:r>
              <a:rPr sz="1300" b="1">
                <a:solidFill>
                  <a:srgbClr val="9CAEC6"/>
                </a:solidFill>
                <a:latin typeface="Aptos Mono"/>
              </a:rPr>
              <a:t>IOC evidence</a:t>
            </a:r>
          </a:p>
        </p:txBody>
      </p:sp>
      <p:sp>
        <p:nvSpPr>
          <p:cNvPr id="11" name="TextBox 10"/>
          <p:cNvSpPr txBox="1"/>
          <p:nvPr/>
        </p:nvSpPr>
        <p:spPr>
          <a:xfrm>
            <a:off x="1938528" y="3209544"/>
            <a:ext cx="1572768" cy="201168"/>
          </a:xfrm>
          <a:prstGeom prst="rect">
            <a:avLst/>
          </a:prstGeom>
          <a:noFill/>
        </p:spPr>
        <p:txBody>
          <a:bodyPr wrap="square" lIns="36576" tIns="18288" rIns="36576" bIns="18288" anchor="t"/>
          <a:lstStyle/>
          <a:p>
            <a:pPr algn="r"/>
            <a:r>
              <a:rPr sz="1300" b="1">
                <a:solidFill>
                  <a:srgbClr val="FF4A4A"/>
                </a:solidFill>
                <a:latin typeface="Aptos"/>
              </a:rPr>
              <a:t>Malicious IP</a:t>
            </a:r>
          </a:p>
        </p:txBody>
      </p:sp>
      <p:sp>
        <p:nvSpPr>
          <p:cNvPr id="12" name="TextBox 11"/>
          <p:cNvSpPr txBox="1"/>
          <p:nvPr/>
        </p:nvSpPr>
        <p:spPr>
          <a:xfrm>
            <a:off x="896112" y="3803904"/>
            <a:ext cx="1097280" cy="164592"/>
          </a:xfrm>
          <a:prstGeom prst="rect">
            <a:avLst/>
          </a:prstGeom>
          <a:noFill/>
        </p:spPr>
        <p:txBody>
          <a:bodyPr wrap="square" lIns="36576" tIns="18288" rIns="36576" bIns="18288" anchor="t"/>
          <a:lstStyle/>
          <a:p>
            <a:pPr algn="l"/>
            <a:r>
              <a:rPr sz="1300" b="1">
                <a:solidFill>
                  <a:srgbClr val="9CAEC6"/>
                </a:solidFill>
                <a:latin typeface="Aptos Mono"/>
              </a:rPr>
              <a:t>Asset context</a:t>
            </a:r>
          </a:p>
        </p:txBody>
      </p:sp>
      <p:sp>
        <p:nvSpPr>
          <p:cNvPr id="13" name="TextBox 12"/>
          <p:cNvSpPr txBox="1"/>
          <p:nvPr/>
        </p:nvSpPr>
        <p:spPr>
          <a:xfrm>
            <a:off x="1938528" y="3803904"/>
            <a:ext cx="1572768" cy="201168"/>
          </a:xfrm>
          <a:prstGeom prst="rect">
            <a:avLst/>
          </a:prstGeom>
          <a:noFill/>
        </p:spPr>
        <p:txBody>
          <a:bodyPr wrap="square" lIns="36576" tIns="18288" rIns="36576" bIns="18288" anchor="t"/>
          <a:lstStyle/>
          <a:p>
            <a:pPr algn="r"/>
            <a:r>
              <a:rPr sz="1300" b="1">
                <a:solidFill>
                  <a:srgbClr val="FF9948"/>
                </a:solidFill>
                <a:latin typeface="Aptos"/>
              </a:rPr>
              <a:t>Domain controller</a:t>
            </a:r>
          </a:p>
        </p:txBody>
      </p:sp>
      <p:sp>
        <p:nvSpPr>
          <p:cNvPr id="14" name="TextBox 13"/>
          <p:cNvSpPr txBox="1"/>
          <p:nvPr/>
        </p:nvSpPr>
        <p:spPr>
          <a:xfrm>
            <a:off x="896112" y="4398264"/>
            <a:ext cx="1097280" cy="164592"/>
          </a:xfrm>
          <a:prstGeom prst="rect">
            <a:avLst/>
          </a:prstGeom>
          <a:noFill/>
        </p:spPr>
        <p:txBody>
          <a:bodyPr wrap="square" lIns="36576" tIns="18288" rIns="36576" bIns="18288" anchor="t"/>
          <a:lstStyle/>
          <a:p>
            <a:pPr algn="l"/>
            <a:r>
              <a:rPr sz="1300" b="1">
                <a:solidFill>
                  <a:srgbClr val="9CAEC6"/>
                </a:solidFill>
                <a:latin typeface="Aptos Mono"/>
              </a:rPr>
              <a:t>Risk components</a:t>
            </a:r>
          </a:p>
        </p:txBody>
      </p:sp>
      <p:sp>
        <p:nvSpPr>
          <p:cNvPr id="15" name="TextBox 14"/>
          <p:cNvSpPr txBox="1"/>
          <p:nvPr/>
        </p:nvSpPr>
        <p:spPr>
          <a:xfrm>
            <a:off x="1938528" y="4398264"/>
            <a:ext cx="1572768" cy="201168"/>
          </a:xfrm>
          <a:prstGeom prst="rect">
            <a:avLst/>
          </a:prstGeom>
          <a:noFill/>
        </p:spPr>
        <p:txBody>
          <a:bodyPr wrap="square" lIns="36576" tIns="18288" rIns="36576" bIns="18288" anchor="t"/>
          <a:lstStyle/>
          <a:p>
            <a:pPr algn="r"/>
            <a:r>
              <a:rPr sz="1300" b="1">
                <a:solidFill>
                  <a:srgbClr val="FF4A4A"/>
                </a:solidFill>
                <a:latin typeface="Aptos"/>
              </a:rPr>
              <a:t>86 / Critical</a:t>
            </a:r>
          </a:p>
        </p:txBody>
      </p:sp>
      <p:cxnSp>
        <p:nvCxnSpPr>
          <p:cNvPr id="16" name="Connector 15"/>
          <p:cNvCxnSpPr/>
          <p:nvPr/>
        </p:nvCxnSpPr>
        <p:spPr>
          <a:xfrm>
            <a:off x="3840480" y="3657600"/>
            <a:ext cx="960120" cy="0"/>
          </a:xfrm>
          <a:prstGeom prst="line">
            <a:avLst/>
          </a:prstGeom>
          <a:ln w="25400">
            <a:solidFill>
              <a:srgbClr val="29D3F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005072" y="3264408"/>
            <a:ext cx="640080" cy="164592"/>
          </a:xfrm>
          <a:prstGeom prst="rect">
            <a:avLst/>
          </a:prstGeom>
          <a:noFill/>
        </p:spPr>
        <p:txBody>
          <a:bodyPr wrap="square" lIns="36576" tIns="18288" rIns="36576" bIns="18288" anchor="t"/>
          <a:lstStyle/>
          <a:p>
            <a:pPr algn="ctr"/>
            <a:r>
              <a:rPr sz="1300" b="1">
                <a:solidFill>
                  <a:srgbClr val="29D3FF"/>
                </a:solidFill>
                <a:latin typeface="Aptos Mono"/>
              </a:rPr>
              <a:t>PROMPT</a:t>
            </a:r>
          </a:p>
        </p:txBody>
      </p:sp>
      <p:sp>
        <p:nvSpPr>
          <p:cNvPr id="18" name="Rounded Rectangle 17"/>
          <p:cNvSpPr/>
          <p:nvPr/>
        </p:nvSpPr>
        <p:spPr>
          <a:xfrm>
            <a:off x="4800600" y="1938528"/>
            <a:ext cx="2743200" cy="3520440"/>
          </a:xfrm>
          <a:prstGeom prst="roundRect">
            <a:avLst/>
          </a:prstGeom>
          <a:solidFill>
            <a:srgbClr val="101B2D"/>
          </a:solidFill>
          <a:ln w="12700">
            <a:solidFill>
              <a:srgbClr val="4984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 name="Rounded Rectangle 18"/>
          <p:cNvSpPr/>
          <p:nvPr/>
        </p:nvSpPr>
        <p:spPr>
          <a:xfrm>
            <a:off x="5230368" y="2267712"/>
            <a:ext cx="1874519" cy="274320"/>
          </a:xfrm>
          <a:prstGeom prst="roundRect">
            <a:avLst/>
          </a:prstGeom>
          <a:solidFill>
            <a:srgbClr val="060C16"/>
          </a:solidFill>
          <a:ln w="12700">
            <a:solidFill>
              <a:srgbClr val="4984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0" name="TextBox 19"/>
          <p:cNvSpPr txBox="1"/>
          <p:nvPr/>
        </p:nvSpPr>
        <p:spPr>
          <a:xfrm>
            <a:off x="5230368" y="2281428"/>
            <a:ext cx="1874519" cy="228600"/>
          </a:xfrm>
          <a:prstGeom prst="rect">
            <a:avLst/>
          </a:prstGeom>
          <a:noFill/>
        </p:spPr>
        <p:txBody>
          <a:bodyPr wrap="square" lIns="36576" tIns="18288" rIns="36576" bIns="18288" anchor="ctr"/>
          <a:lstStyle/>
          <a:p>
            <a:pPr algn="ctr"/>
            <a:r>
              <a:rPr sz="1300" b="1">
                <a:solidFill>
                  <a:srgbClr val="4984FF"/>
                </a:solidFill>
                <a:latin typeface="Aptos Mono"/>
              </a:rPr>
              <a:t>IBM watsonx.ai</a:t>
            </a:r>
          </a:p>
        </p:txBody>
      </p:sp>
      <p:sp>
        <p:nvSpPr>
          <p:cNvPr id="21" name="TextBox 20"/>
          <p:cNvSpPr txBox="1"/>
          <p:nvPr/>
        </p:nvSpPr>
        <p:spPr>
          <a:xfrm>
            <a:off x="5230368" y="2880360"/>
            <a:ext cx="1874519" cy="685800"/>
          </a:xfrm>
          <a:prstGeom prst="rect">
            <a:avLst/>
          </a:prstGeom>
          <a:noFill/>
        </p:spPr>
        <p:txBody>
          <a:bodyPr wrap="square" lIns="36576" tIns="18288" rIns="36576" bIns="18288" anchor="t"/>
          <a:lstStyle/>
          <a:p>
            <a:pPr algn="ctr"/>
            <a:r>
              <a:rPr sz="2200" b="1">
                <a:solidFill>
                  <a:srgbClr val="EFF6FF"/>
                </a:solidFill>
                <a:latin typeface="Aptos"/>
              </a:rPr>
              <a:t>Granite 3 8B
Instruct</a:t>
            </a:r>
          </a:p>
        </p:txBody>
      </p:sp>
      <p:sp>
        <p:nvSpPr>
          <p:cNvPr id="22" name="TextBox 21"/>
          <p:cNvSpPr txBox="1"/>
          <p:nvPr/>
        </p:nvSpPr>
        <p:spPr>
          <a:xfrm>
            <a:off x="5230368" y="3858768"/>
            <a:ext cx="1874519" cy="182880"/>
          </a:xfrm>
          <a:prstGeom prst="rect">
            <a:avLst/>
          </a:prstGeom>
          <a:noFill/>
        </p:spPr>
        <p:txBody>
          <a:bodyPr wrap="square" lIns="36576" tIns="18288" rIns="36576" bIns="18288" anchor="t"/>
          <a:lstStyle/>
          <a:p>
            <a:pPr algn="ctr"/>
            <a:r>
              <a:rPr sz="1400" b="1">
                <a:solidFill>
                  <a:srgbClr val="9CAEC6"/>
                </a:solidFill>
                <a:latin typeface="Aptos Mono"/>
              </a:rPr>
              <a:t>Generates:</a:t>
            </a:r>
          </a:p>
        </p:txBody>
      </p:sp>
      <p:sp>
        <p:nvSpPr>
          <p:cNvPr id="23" name="TextBox 22"/>
          <p:cNvSpPr txBox="1"/>
          <p:nvPr/>
        </p:nvSpPr>
        <p:spPr>
          <a:xfrm>
            <a:off x="5230368" y="4160520"/>
            <a:ext cx="1874519" cy="777240"/>
          </a:xfrm>
          <a:prstGeom prst="rect">
            <a:avLst/>
          </a:prstGeom>
          <a:noFill/>
        </p:spPr>
        <p:txBody>
          <a:bodyPr wrap="square" lIns="36576" tIns="18288" rIns="36576" bIns="18288" anchor="t"/>
          <a:lstStyle/>
          <a:p>
            <a:pPr algn="ctr"/>
            <a:r>
              <a:rPr sz="1400" b="1">
                <a:solidFill>
                  <a:srgbClr val="EFF6FF"/>
                </a:solidFill>
                <a:latin typeface="Aptos"/>
              </a:rPr>
              <a:t>Plain-English explanation
+
4 investigation steps</a:t>
            </a:r>
          </a:p>
        </p:txBody>
      </p:sp>
      <p:cxnSp>
        <p:nvCxnSpPr>
          <p:cNvPr id="24" name="Connector 23"/>
          <p:cNvCxnSpPr/>
          <p:nvPr/>
        </p:nvCxnSpPr>
        <p:spPr>
          <a:xfrm>
            <a:off x="7589520" y="3657600"/>
            <a:ext cx="868680" cy="0"/>
          </a:xfrm>
          <a:prstGeom prst="line">
            <a:avLst/>
          </a:prstGeom>
          <a:ln w="25400">
            <a:solidFill>
              <a:srgbClr val="29D3FF"/>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754112" y="3264408"/>
            <a:ext cx="640080" cy="164592"/>
          </a:xfrm>
          <a:prstGeom prst="rect">
            <a:avLst/>
          </a:prstGeom>
          <a:noFill/>
        </p:spPr>
        <p:txBody>
          <a:bodyPr wrap="square" lIns="36576" tIns="18288" rIns="36576" bIns="18288" anchor="t"/>
          <a:lstStyle/>
          <a:p>
            <a:pPr algn="ctr"/>
            <a:r>
              <a:rPr sz="1300" b="1">
                <a:solidFill>
                  <a:srgbClr val="29D3FF"/>
                </a:solidFill>
                <a:latin typeface="Aptos Mono"/>
              </a:rPr>
              <a:t>OUTPUT</a:t>
            </a:r>
          </a:p>
        </p:txBody>
      </p:sp>
      <p:sp>
        <p:nvSpPr>
          <p:cNvPr id="26" name="Rounded Rectangle 25"/>
          <p:cNvSpPr/>
          <p:nvPr/>
        </p:nvSpPr>
        <p:spPr>
          <a:xfrm>
            <a:off x="8458200" y="1938528"/>
            <a:ext cx="3063240" cy="3520440"/>
          </a:xfrm>
          <a:prstGeom prst="roundRect">
            <a:avLst/>
          </a:prstGeom>
          <a:solidFill>
            <a:srgbClr val="101B2D"/>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7" name="TextBox 26"/>
          <p:cNvSpPr txBox="1"/>
          <p:nvPr/>
        </p:nvSpPr>
        <p:spPr>
          <a:xfrm>
            <a:off x="8732520" y="2194560"/>
            <a:ext cx="2331720" cy="182880"/>
          </a:xfrm>
          <a:prstGeom prst="rect">
            <a:avLst/>
          </a:prstGeom>
          <a:noFill/>
        </p:spPr>
        <p:txBody>
          <a:bodyPr wrap="square" lIns="36576" tIns="18288" rIns="36576" bIns="18288" anchor="t"/>
          <a:lstStyle/>
          <a:p>
            <a:pPr algn="l"/>
            <a:r>
              <a:rPr sz="1300" b="1">
                <a:solidFill>
                  <a:srgbClr val="29D3FF"/>
                </a:solidFill>
                <a:latin typeface="Aptos Mono"/>
              </a:rPr>
              <a:t>ANALYST-READY RESULT</a:t>
            </a:r>
          </a:p>
        </p:txBody>
      </p:sp>
      <p:sp>
        <p:nvSpPr>
          <p:cNvPr id="28" name="TextBox 27"/>
          <p:cNvSpPr txBox="1"/>
          <p:nvPr/>
        </p:nvSpPr>
        <p:spPr>
          <a:xfrm>
            <a:off x="8732520" y="2615184"/>
            <a:ext cx="2011680" cy="201168"/>
          </a:xfrm>
          <a:prstGeom prst="rect">
            <a:avLst/>
          </a:prstGeom>
          <a:noFill/>
        </p:spPr>
        <p:txBody>
          <a:bodyPr wrap="square" lIns="36576" tIns="18288" rIns="36576" bIns="18288" anchor="t"/>
          <a:lstStyle/>
          <a:p>
            <a:pPr algn="l"/>
            <a:r>
              <a:rPr sz="1300" b="1">
                <a:solidFill>
                  <a:srgbClr val="EFF6FF"/>
                </a:solidFill>
                <a:latin typeface="Aptos"/>
              </a:rPr>
              <a:t>Why it matters</a:t>
            </a:r>
          </a:p>
        </p:txBody>
      </p:sp>
      <p:sp>
        <p:nvSpPr>
          <p:cNvPr id="29" name="TextBox 28"/>
          <p:cNvSpPr txBox="1"/>
          <p:nvPr/>
        </p:nvSpPr>
        <p:spPr>
          <a:xfrm>
            <a:off x="8732520" y="2971800"/>
            <a:ext cx="2423160" cy="658368"/>
          </a:xfrm>
          <a:prstGeom prst="rect">
            <a:avLst/>
          </a:prstGeom>
          <a:noFill/>
        </p:spPr>
        <p:txBody>
          <a:bodyPr wrap="square" lIns="36576" tIns="18288" rIns="36576" bIns="18288" anchor="t"/>
          <a:lstStyle/>
          <a:p>
            <a:pPr algn="l"/>
            <a:r>
              <a:rPr sz="1300" b="0">
                <a:solidFill>
                  <a:srgbClr val="9CAEC6"/>
                </a:solidFill>
                <a:latin typeface="Aptos"/>
              </a:rPr>
              <a:t>Critical asset + malicious IOC + correlated behaviour raise confidence in an active attack.</a:t>
            </a:r>
          </a:p>
        </p:txBody>
      </p:sp>
      <p:sp>
        <p:nvSpPr>
          <p:cNvPr id="30" name="TextBox 29"/>
          <p:cNvSpPr txBox="1"/>
          <p:nvPr/>
        </p:nvSpPr>
        <p:spPr>
          <a:xfrm>
            <a:off x="8732520" y="3840480"/>
            <a:ext cx="2423160" cy="201168"/>
          </a:xfrm>
          <a:prstGeom prst="rect">
            <a:avLst/>
          </a:prstGeom>
          <a:noFill/>
        </p:spPr>
        <p:txBody>
          <a:bodyPr wrap="square" lIns="36576" tIns="18288" rIns="36576" bIns="18288" anchor="t"/>
          <a:lstStyle/>
          <a:p>
            <a:pPr algn="l"/>
            <a:r>
              <a:rPr sz="1300" b="1">
                <a:solidFill>
                  <a:srgbClr val="EFF6FF"/>
                </a:solidFill>
                <a:latin typeface="Aptos"/>
              </a:rPr>
              <a:t>1. Validate process tree</a:t>
            </a:r>
          </a:p>
        </p:txBody>
      </p:sp>
      <p:sp>
        <p:nvSpPr>
          <p:cNvPr id="31" name="TextBox 30"/>
          <p:cNvSpPr txBox="1"/>
          <p:nvPr/>
        </p:nvSpPr>
        <p:spPr>
          <a:xfrm>
            <a:off x="8732520" y="4169664"/>
            <a:ext cx="2423160" cy="201168"/>
          </a:xfrm>
          <a:prstGeom prst="rect">
            <a:avLst/>
          </a:prstGeom>
          <a:noFill/>
        </p:spPr>
        <p:txBody>
          <a:bodyPr wrap="square" lIns="36576" tIns="18288" rIns="36576" bIns="18288" anchor="t"/>
          <a:lstStyle/>
          <a:p>
            <a:pPr algn="l"/>
            <a:r>
              <a:rPr sz="1300" b="1">
                <a:solidFill>
                  <a:srgbClr val="EFF6FF"/>
                </a:solidFill>
                <a:latin typeface="Aptos"/>
              </a:rPr>
              <a:t>2. Check account activity</a:t>
            </a:r>
          </a:p>
        </p:txBody>
      </p:sp>
      <p:sp>
        <p:nvSpPr>
          <p:cNvPr id="32" name="TextBox 31"/>
          <p:cNvSpPr txBox="1"/>
          <p:nvPr/>
        </p:nvSpPr>
        <p:spPr>
          <a:xfrm>
            <a:off x="8732520" y="4498848"/>
            <a:ext cx="2423160" cy="201168"/>
          </a:xfrm>
          <a:prstGeom prst="rect">
            <a:avLst/>
          </a:prstGeom>
          <a:noFill/>
        </p:spPr>
        <p:txBody>
          <a:bodyPr wrap="square" lIns="36576" tIns="18288" rIns="36576" bIns="18288" anchor="t"/>
          <a:lstStyle/>
          <a:p>
            <a:pPr algn="l"/>
            <a:r>
              <a:rPr sz="1300" b="1">
                <a:solidFill>
                  <a:srgbClr val="EFF6FF"/>
                </a:solidFill>
                <a:latin typeface="Aptos"/>
              </a:rPr>
              <a:t>3. Review lateral movement</a:t>
            </a:r>
          </a:p>
        </p:txBody>
      </p:sp>
      <p:sp>
        <p:nvSpPr>
          <p:cNvPr id="33" name="TextBox 32"/>
          <p:cNvSpPr txBox="1"/>
          <p:nvPr/>
        </p:nvSpPr>
        <p:spPr>
          <a:xfrm>
            <a:off x="8732520" y="4828032"/>
            <a:ext cx="2423160" cy="201168"/>
          </a:xfrm>
          <a:prstGeom prst="rect">
            <a:avLst/>
          </a:prstGeom>
          <a:noFill/>
        </p:spPr>
        <p:txBody>
          <a:bodyPr wrap="square" lIns="36576" tIns="18288" rIns="36576" bIns="18288" anchor="t"/>
          <a:lstStyle/>
          <a:p>
            <a:pPr algn="l"/>
            <a:r>
              <a:rPr sz="1300" b="1">
                <a:solidFill>
                  <a:srgbClr val="EFF6FF"/>
                </a:solidFill>
                <a:latin typeface="Aptos"/>
              </a:rPr>
              <a:t>4. Inspect outbound traffic</a:t>
            </a:r>
          </a:p>
        </p:txBody>
      </p:sp>
      <p:sp>
        <p:nvSpPr>
          <p:cNvPr id="34" name="Rounded Rectangle 33"/>
          <p:cNvSpPr/>
          <p:nvPr/>
        </p:nvSpPr>
        <p:spPr>
          <a:xfrm>
            <a:off x="658368" y="5650992"/>
            <a:ext cx="10863072" cy="530352"/>
          </a:xfrm>
          <a:prstGeom prst="roundRect">
            <a:avLst/>
          </a:prstGeom>
          <a:solidFill>
            <a:srgbClr val="060C16"/>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5" name="TextBox 34"/>
          <p:cNvSpPr txBox="1"/>
          <p:nvPr/>
        </p:nvSpPr>
        <p:spPr>
          <a:xfrm>
            <a:off x="896112" y="5824728"/>
            <a:ext cx="822960" cy="164592"/>
          </a:xfrm>
          <a:prstGeom prst="rect">
            <a:avLst/>
          </a:prstGeom>
          <a:noFill/>
        </p:spPr>
        <p:txBody>
          <a:bodyPr wrap="square" lIns="36576" tIns="18288" rIns="36576" bIns="18288" anchor="t"/>
          <a:lstStyle/>
          <a:p>
            <a:pPr algn="l"/>
            <a:r>
              <a:rPr sz="1300" b="1">
                <a:solidFill>
                  <a:srgbClr val="9CAEC6"/>
                </a:solidFill>
                <a:latin typeface="Aptos Mono"/>
              </a:rPr>
              <a:t>TECH STACK</a:t>
            </a:r>
          </a:p>
        </p:txBody>
      </p:sp>
      <p:sp>
        <p:nvSpPr>
          <p:cNvPr id="36" name="Rounded Rectangle 35"/>
          <p:cNvSpPr/>
          <p:nvPr/>
        </p:nvSpPr>
        <p:spPr>
          <a:xfrm>
            <a:off x="1828800" y="5742432"/>
            <a:ext cx="2084831" cy="274320"/>
          </a:xfrm>
          <a:prstGeom prst="roundRect">
            <a:avLst/>
          </a:prstGeom>
          <a:solidFill>
            <a:srgbClr val="142338"/>
          </a:solidFill>
          <a:ln w="12700">
            <a:solidFill>
              <a:srgbClr val="29D3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7" name="TextBox 36"/>
          <p:cNvSpPr txBox="1"/>
          <p:nvPr/>
        </p:nvSpPr>
        <p:spPr>
          <a:xfrm>
            <a:off x="1828800" y="5756148"/>
            <a:ext cx="2084831" cy="228600"/>
          </a:xfrm>
          <a:prstGeom prst="rect">
            <a:avLst/>
          </a:prstGeom>
          <a:noFill/>
        </p:spPr>
        <p:txBody>
          <a:bodyPr wrap="square" lIns="36576" tIns="18288" rIns="36576" bIns="18288" anchor="ctr"/>
          <a:lstStyle/>
          <a:p>
            <a:pPr algn="ctr"/>
            <a:r>
              <a:rPr sz="1300" b="1">
                <a:solidFill>
                  <a:srgbClr val="29D3FF"/>
                </a:solidFill>
                <a:latin typeface="Aptos Mono"/>
              </a:rPr>
              <a:t>React + TypeScript</a:t>
            </a:r>
          </a:p>
        </p:txBody>
      </p:sp>
      <p:sp>
        <p:nvSpPr>
          <p:cNvPr id="38" name="Rounded Rectangle 37"/>
          <p:cNvSpPr/>
          <p:nvPr/>
        </p:nvSpPr>
        <p:spPr>
          <a:xfrm>
            <a:off x="4160520" y="5742432"/>
            <a:ext cx="2084831" cy="274320"/>
          </a:xfrm>
          <a:prstGeom prst="roundRect">
            <a:avLst/>
          </a:prstGeom>
          <a:solidFill>
            <a:srgbClr val="142338"/>
          </a:solidFill>
          <a:ln w="12700">
            <a:solidFill>
              <a:srgbClr val="4984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9" name="TextBox 38"/>
          <p:cNvSpPr txBox="1"/>
          <p:nvPr/>
        </p:nvSpPr>
        <p:spPr>
          <a:xfrm>
            <a:off x="4160520" y="5756148"/>
            <a:ext cx="2084831" cy="228600"/>
          </a:xfrm>
          <a:prstGeom prst="rect">
            <a:avLst/>
          </a:prstGeom>
          <a:noFill/>
        </p:spPr>
        <p:txBody>
          <a:bodyPr wrap="square" lIns="36576" tIns="18288" rIns="36576" bIns="18288" anchor="ctr"/>
          <a:lstStyle/>
          <a:p>
            <a:pPr algn="ctr"/>
            <a:r>
              <a:rPr sz="1300" b="1">
                <a:solidFill>
                  <a:srgbClr val="4984FF"/>
                </a:solidFill>
                <a:latin typeface="Aptos Mono"/>
              </a:rPr>
              <a:t>FastAPI + Python</a:t>
            </a:r>
          </a:p>
        </p:txBody>
      </p:sp>
      <p:sp>
        <p:nvSpPr>
          <p:cNvPr id="40" name="Rounded Rectangle 39"/>
          <p:cNvSpPr/>
          <p:nvPr/>
        </p:nvSpPr>
        <p:spPr>
          <a:xfrm>
            <a:off x="6492240" y="5742432"/>
            <a:ext cx="2084831" cy="274320"/>
          </a:xfrm>
          <a:prstGeom prst="roundRect">
            <a:avLst/>
          </a:prstGeom>
          <a:solidFill>
            <a:srgbClr val="142338"/>
          </a:solidFill>
          <a:ln w="12700">
            <a:solidFill>
              <a:srgbClr val="FF994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1" name="TextBox 40"/>
          <p:cNvSpPr txBox="1"/>
          <p:nvPr/>
        </p:nvSpPr>
        <p:spPr>
          <a:xfrm>
            <a:off x="6492240" y="5756148"/>
            <a:ext cx="2084831" cy="228600"/>
          </a:xfrm>
          <a:prstGeom prst="rect">
            <a:avLst/>
          </a:prstGeom>
          <a:noFill/>
        </p:spPr>
        <p:txBody>
          <a:bodyPr wrap="square" lIns="36576" tIns="18288" rIns="36576" bIns="18288" anchor="ctr"/>
          <a:lstStyle/>
          <a:p>
            <a:pPr algn="ctr"/>
            <a:r>
              <a:rPr sz="1300" b="1">
                <a:solidFill>
                  <a:srgbClr val="FF9948"/>
                </a:solidFill>
                <a:latin typeface="Aptos Mono"/>
              </a:rPr>
              <a:t>SQLAlchemy + SQLite</a:t>
            </a:r>
          </a:p>
        </p:txBody>
      </p:sp>
      <p:sp>
        <p:nvSpPr>
          <p:cNvPr id="42" name="Rounded Rectangle 41"/>
          <p:cNvSpPr/>
          <p:nvPr/>
        </p:nvSpPr>
        <p:spPr>
          <a:xfrm>
            <a:off x="8823959" y="5742432"/>
            <a:ext cx="2084831" cy="274320"/>
          </a:xfrm>
          <a:prstGeom prst="roundRect">
            <a:avLst/>
          </a:prstGeom>
          <a:solidFill>
            <a:srgbClr val="142338"/>
          </a:solidFill>
          <a:ln w="12700">
            <a:solidFill>
              <a:srgbClr val="FF4A4A"/>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3" name="TextBox 42"/>
          <p:cNvSpPr txBox="1"/>
          <p:nvPr/>
        </p:nvSpPr>
        <p:spPr>
          <a:xfrm>
            <a:off x="8823959" y="5756148"/>
            <a:ext cx="2084831" cy="228600"/>
          </a:xfrm>
          <a:prstGeom prst="rect">
            <a:avLst/>
          </a:prstGeom>
          <a:noFill/>
        </p:spPr>
        <p:txBody>
          <a:bodyPr wrap="square" lIns="36576" tIns="18288" rIns="36576" bIns="18288" anchor="ctr"/>
          <a:lstStyle/>
          <a:p>
            <a:pPr algn="ctr"/>
            <a:r>
              <a:rPr sz="1300" b="1">
                <a:solidFill>
                  <a:srgbClr val="FF4A4A"/>
                </a:solidFill>
                <a:latin typeface="Aptos Mono"/>
              </a:rPr>
              <a:t>IBM watsonx.ai</a:t>
            </a:r>
          </a:p>
        </p:txBody>
      </p:sp>
      <p:sp>
        <p:nvSpPr>
          <p:cNvPr id="44" name="TextBox 43"/>
          <p:cNvSpPr txBox="1"/>
          <p:nvPr/>
        </p:nvSpPr>
        <p:spPr>
          <a:xfrm>
            <a:off x="9006840" y="6382512"/>
            <a:ext cx="2331720" cy="146304"/>
          </a:xfrm>
          <a:prstGeom prst="rect">
            <a:avLst/>
          </a:prstGeom>
          <a:noFill/>
        </p:spPr>
        <p:txBody>
          <a:bodyPr wrap="square" lIns="36576" tIns="18288" rIns="36576" bIns="18288" anchor="t"/>
          <a:lstStyle/>
          <a:p>
            <a:pPr algn="r"/>
            <a:endParaRPr sz="1300" b="0" dirty="0">
              <a:solidFill>
                <a:srgbClr val="9CAEC6"/>
              </a:solidFill>
              <a:latin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101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 name="TextBox 2"/>
          <p:cNvSpPr txBox="1"/>
          <p:nvPr/>
        </p:nvSpPr>
        <p:spPr>
          <a:xfrm>
            <a:off x="594360" y="347472"/>
            <a:ext cx="2926080" cy="228600"/>
          </a:xfrm>
          <a:prstGeom prst="rect">
            <a:avLst/>
          </a:prstGeom>
          <a:noFill/>
        </p:spPr>
        <p:txBody>
          <a:bodyPr wrap="square" lIns="36576" tIns="18288" rIns="36576" bIns="18288" anchor="t"/>
          <a:lstStyle/>
          <a:p>
            <a:pPr algn="l"/>
            <a:r>
              <a:rPr sz="1300" b="1">
                <a:solidFill>
                  <a:srgbClr val="29D3FF"/>
                </a:solidFill>
                <a:latin typeface="Aptos Mono"/>
              </a:rPr>
              <a:t>07 / IMPACT &amp; TEAM</a:t>
            </a:r>
          </a:p>
        </p:txBody>
      </p:sp>
      <p:sp>
        <p:nvSpPr>
          <p:cNvPr id="4" name="TextBox 3"/>
          <p:cNvSpPr txBox="1"/>
          <p:nvPr/>
        </p:nvSpPr>
        <p:spPr>
          <a:xfrm>
            <a:off x="594360" y="658368"/>
            <a:ext cx="10972800" cy="566928"/>
          </a:xfrm>
          <a:prstGeom prst="rect">
            <a:avLst/>
          </a:prstGeom>
          <a:noFill/>
        </p:spPr>
        <p:txBody>
          <a:bodyPr wrap="square" lIns="36576" tIns="18288" rIns="36576" bIns="18288" anchor="t"/>
          <a:lstStyle/>
          <a:p>
            <a:pPr algn="l"/>
            <a:r>
              <a:rPr sz="2800" b="1">
                <a:solidFill>
                  <a:srgbClr val="EFF6FF"/>
                </a:solidFill>
                <a:latin typeface="Aptos"/>
              </a:rPr>
              <a:t>Prioritise. Explain. Act.</a:t>
            </a:r>
          </a:p>
        </p:txBody>
      </p:sp>
      <p:sp>
        <p:nvSpPr>
          <p:cNvPr id="5" name="TextBox 4"/>
          <p:cNvSpPr txBox="1"/>
          <p:nvPr/>
        </p:nvSpPr>
        <p:spPr>
          <a:xfrm>
            <a:off x="621792" y="1307592"/>
            <a:ext cx="10789920" cy="384048"/>
          </a:xfrm>
          <a:prstGeom prst="rect">
            <a:avLst/>
          </a:prstGeom>
          <a:noFill/>
        </p:spPr>
        <p:txBody>
          <a:bodyPr wrap="square" lIns="36576" tIns="18288" rIns="36576" bIns="18288" anchor="t"/>
          <a:lstStyle/>
          <a:p>
            <a:pPr algn="l"/>
            <a:r>
              <a:rPr sz="1400" b="1">
                <a:solidFill>
                  <a:srgbClr val="EFF6FF"/>
                </a:solidFill>
                <a:latin typeface="Aptos"/>
              </a:rPr>
              <a:t>ThreatNexus turns alert volume into a focused, explainable analyst workflow.</a:t>
            </a:r>
          </a:p>
        </p:txBody>
      </p:sp>
      <p:sp>
        <p:nvSpPr>
          <p:cNvPr id="6" name="Rounded Rectangle 5"/>
          <p:cNvSpPr/>
          <p:nvPr/>
        </p:nvSpPr>
        <p:spPr>
          <a:xfrm>
            <a:off x="658368" y="1938528"/>
            <a:ext cx="3337560" cy="1481328"/>
          </a:xfrm>
          <a:prstGeom prst="roundRect">
            <a:avLst/>
          </a:prstGeom>
          <a:solidFill>
            <a:srgbClr val="101B2D"/>
          </a:solidFill>
          <a:ln w="12700">
            <a:solidFill>
              <a:srgbClr val="29D3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7" name="Oval 6"/>
          <p:cNvSpPr/>
          <p:nvPr/>
        </p:nvSpPr>
        <p:spPr>
          <a:xfrm>
            <a:off x="886968" y="2221992"/>
            <a:ext cx="310896" cy="310896"/>
          </a:xfrm>
          <a:prstGeom prst="ellipse">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8" name="TextBox 7"/>
          <p:cNvSpPr txBox="1"/>
          <p:nvPr/>
        </p:nvSpPr>
        <p:spPr>
          <a:xfrm>
            <a:off x="886968" y="2258568"/>
            <a:ext cx="310896" cy="164592"/>
          </a:xfrm>
          <a:prstGeom prst="rect">
            <a:avLst/>
          </a:prstGeom>
          <a:noFill/>
        </p:spPr>
        <p:txBody>
          <a:bodyPr wrap="square" lIns="36576" tIns="18288" rIns="36576" bIns="18288" anchor="t"/>
          <a:lstStyle/>
          <a:p>
            <a:pPr algn="ctr"/>
            <a:r>
              <a:rPr sz="1300" b="1">
                <a:solidFill>
                  <a:srgbClr val="060C16"/>
                </a:solidFill>
                <a:latin typeface="Aptos Mono"/>
              </a:rPr>
              <a:t>1</a:t>
            </a:r>
          </a:p>
        </p:txBody>
      </p:sp>
      <p:sp>
        <p:nvSpPr>
          <p:cNvPr id="9" name="TextBox 8"/>
          <p:cNvSpPr txBox="1"/>
          <p:nvPr/>
        </p:nvSpPr>
        <p:spPr>
          <a:xfrm>
            <a:off x="1344168" y="2185416"/>
            <a:ext cx="2103120" cy="219456"/>
          </a:xfrm>
          <a:prstGeom prst="rect">
            <a:avLst/>
          </a:prstGeom>
          <a:noFill/>
        </p:spPr>
        <p:txBody>
          <a:bodyPr wrap="square" lIns="36576" tIns="18288" rIns="36576" bIns="18288" anchor="t"/>
          <a:lstStyle/>
          <a:p>
            <a:pPr algn="l"/>
            <a:r>
              <a:rPr sz="1300" b="1">
                <a:solidFill>
                  <a:srgbClr val="29D3FF"/>
                </a:solidFill>
                <a:latin typeface="Aptos Mono"/>
              </a:rPr>
              <a:t>PRIORITISE</a:t>
            </a:r>
          </a:p>
        </p:txBody>
      </p:sp>
      <p:sp>
        <p:nvSpPr>
          <p:cNvPr id="10" name="TextBox 9"/>
          <p:cNvSpPr txBox="1"/>
          <p:nvPr/>
        </p:nvSpPr>
        <p:spPr>
          <a:xfrm>
            <a:off x="1344168" y="2551176"/>
            <a:ext cx="2240280" cy="493776"/>
          </a:xfrm>
          <a:prstGeom prst="rect">
            <a:avLst/>
          </a:prstGeom>
          <a:noFill/>
        </p:spPr>
        <p:txBody>
          <a:bodyPr wrap="square" lIns="36576" tIns="18288" rIns="36576" bIns="18288" anchor="t"/>
          <a:lstStyle/>
          <a:p>
            <a:pPr algn="l"/>
            <a:r>
              <a:rPr sz="1400" b="1">
                <a:solidFill>
                  <a:srgbClr val="EFF6FF"/>
                </a:solidFill>
                <a:latin typeface="Aptos"/>
              </a:rPr>
              <a:t>Faster first-pass triage
Fewer wasted investigations</a:t>
            </a:r>
          </a:p>
        </p:txBody>
      </p:sp>
      <p:sp>
        <p:nvSpPr>
          <p:cNvPr id="11" name="Rounded Rectangle 10"/>
          <p:cNvSpPr/>
          <p:nvPr/>
        </p:nvSpPr>
        <p:spPr>
          <a:xfrm>
            <a:off x="4361688" y="1938528"/>
            <a:ext cx="3337560" cy="1481328"/>
          </a:xfrm>
          <a:prstGeom prst="roundRect">
            <a:avLst/>
          </a:prstGeom>
          <a:solidFill>
            <a:srgbClr val="101B2D"/>
          </a:solidFill>
          <a:ln w="12700">
            <a:solidFill>
              <a:srgbClr val="4984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 name="Oval 11"/>
          <p:cNvSpPr/>
          <p:nvPr/>
        </p:nvSpPr>
        <p:spPr>
          <a:xfrm>
            <a:off x="4590288" y="2221992"/>
            <a:ext cx="310896" cy="310896"/>
          </a:xfrm>
          <a:prstGeom prst="ellipse">
            <a:avLst/>
          </a:prstGeom>
          <a:solidFill>
            <a:srgbClr val="4984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3" name="TextBox 12"/>
          <p:cNvSpPr txBox="1"/>
          <p:nvPr/>
        </p:nvSpPr>
        <p:spPr>
          <a:xfrm>
            <a:off x="4590288" y="2258568"/>
            <a:ext cx="310896" cy="164592"/>
          </a:xfrm>
          <a:prstGeom prst="rect">
            <a:avLst/>
          </a:prstGeom>
          <a:noFill/>
        </p:spPr>
        <p:txBody>
          <a:bodyPr wrap="square" lIns="36576" tIns="18288" rIns="36576" bIns="18288" anchor="t"/>
          <a:lstStyle/>
          <a:p>
            <a:pPr algn="ctr"/>
            <a:r>
              <a:rPr sz="1300" b="1">
                <a:solidFill>
                  <a:srgbClr val="060C16"/>
                </a:solidFill>
                <a:latin typeface="Aptos Mono"/>
              </a:rPr>
              <a:t>2</a:t>
            </a:r>
          </a:p>
        </p:txBody>
      </p:sp>
      <p:sp>
        <p:nvSpPr>
          <p:cNvPr id="14" name="TextBox 13"/>
          <p:cNvSpPr txBox="1"/>
          <p:nvPr/>
        </p:nvSpPr>
        <p:spPr>
          <a:xfrm>
            <a:off x="5047488" y="2185416"/>
            <a:ext cx="2103120" cy="219456"/>
          </a:xfrm>
          <a:prstGeom prst="rect">
            <a:avLst/>
          </a:prstGeom>
          <a:noFill/>
        </p:spPr>
        <p:txBody>
          <a:bodyPr wrap="square" lIns="36576" tIns="18288" rIns="36576" bIns="18288" anchor="t"/>
          <a:lstStyle/>
          <a:p>
            <a:pPr algn="l"/>
            <a:r>
              <a:rPr sz="1300" b="1">
                <a:solidFill>
                  <a:srgbClr val="4984FF"/>
                </a:solidFill>
                <a:latin typeface="Aptos Mono"/>
              </a:rPr>
              <a:t>EXPLAIN</a:t>
            </a:r>
          </a:p>
        </p:txBody>
      </p:sp>
      <p:sp>
        <p:nvSpPr>
          <p:cNvPr id="15" name="TextBox 14"/>
          <p:cNvSpPr txBox="1"/>
          <p:nvPr/>
        </p:nvSpPr>
        <p:spPr>
          <a:xfrm>
            <a:off x="5047488" y="2551176"/>
            <a:ext cx="2240280" cy="493776"/>
          </a:xfrm>
          <a:prstGeom prst="rect">
            <a:avLst/>
          </a:prstGeom>
          <a:noFill/>
        </p:spPr>
        <p:txBody>
          <a:bodyPr wrap="square" lIns="36576" tIns="18288" rIns="36576" bIns="18288" anchor="t"/>
          <a:lstStyle/>
          <a:p>
            <a:pPr algn="l"/>
            <a:r>
              <a:rPr sz="1400" b="1">
                <a:solidFill>
                  <a:srgbClr val="EFF6FF"/>
                </a:solidFill>
                <a:latin typeface="Aptos"/>
              </a:rPr>
              <a:t>Evidence-backed context
Auditable decisions</a:t>
            </a:r>
          </a:p>
        </p:txBody>
      </p:sp>
      <p:sp>
        <p:nvSpPr>
          <p:cNvPr id="16" name="Rounded Rectangle 15"/>
          <p:cNvSpPr/>
          <p:nvPr/>
        </p:nvSpPr>
        <p:spPr>
          <a:xfrm>
            <a:off x="8065008" y="1938528"/>
            <a:ext cx="3337560" cy="1481328"/>
          </a:xfrm>
          <a:prstGeom prst="roundRect">
            <a:avLst/>
          </a:prstGeom>
          <a:solidFill>
            <a:srgbClr val="101B2D"/>
          </a:solidFill>
          <a:ln w="12700">
            <a:solidFill>
              <a:srgbClr val="FF994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 name="Oval 16"/>
          <p:cNvSpPr/>
          <p:nvPr/>
        </p:nvSpPr>
        <p:spPr>
          <a:xfrm>
            <a:off x="8293608" y="2221992"/>
            <a:ext cx="310896" cy="310896"/>
          </a:xfrm>
          <a:prstGeom prst="ellipse">
            <a:avLst/>
          </a:prstGeom>
          <a:solidFill>
            <a:srgbClr val="FF9948"/>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8" name="TextBox 17"/>
          <p:cNvSpPr txBox="1"/>
          <p:nvPr/>
        </p:nvSpPr>
        <p:spPr>
          <a:xfrm>
            <a:off x="8293608" y="2258568"/>
            <a:ext cx="310896" cy="164592"/>
          </a:xfrm>
          <a:prstGeom prst="rect">
            <a:avLst/>
          </a:prstGeom>
          <a:noFill/>
        </p:spPr>
        <p:txBody>
          <a:bodyPr wrap="square" lIns="36576" tIns="18288" rIns="36576" bIns="18288" anchor="t"/>
          <a:lstStyle/>
          <a:p>
            <a:pPr algn="ctr"/>
            <a:r>
              <a:rPr sz="1300" b="1">
                <a:solidFill>
                  <a:srgbClr val="060C16"/>
                </a:solidFill>
                <a:latin typeface="Aptos Mono"/>
              </a:rPr>
              <a:t>3</a:t>
            </a:r>
          </a:p>
        </p:txBody>
      </p:sp>
      <p:sp>
        <p:nvSpPr>
          <p:cNvPr id="19" name="TextBox 18"/>
          <p:cNvSpPr txBox="1"/>
          <p:nvPr/>
        </p:nvSpPr>
        <p:spPr>
          <a:xfrm>
            <a:off x="8750808" y="2185416"/>
            <a:ext cx="2103120" cy="219456"/>
          </a:xfrm>
          <a:prstGeom prst="rect">
            <a:avLst/>
          </a:prstGeom>
          <a:noFill/>
        </p:spPr>
        <p:txBody>
          <a:bodyPr wrap="square" lIns="36576" tIns="18288" rIns="36576" bIns="18288" anchor="t"/>
          <a:lstStyle/>
          <a:p>
            <a:pPr algn="l"/>
            <a:r>
              <a:rPr sz="1300" b="1">
                <a:solidFill>
                  <a:srgbClr val="FF9948"/>
                </a:solidFill>
                <a:latin typeface="Aptos Mono"/>
              </a:rPr>
              <a:t>ACT</a:t>
            </a:r>
          </a:p>
        </p:txBody>
      </p:sp>
      <p:sp>
        <p:nvSpPr>
          <p:cNvPr id="20" name="TextBox 19"/>
          <p:cNvSpPr txBox="1"/>
          <p:nvPr/>
        </p:nvSpPr>
        <p:spPr>
          <a:xfrm>
            <a:off x="8750808" y="2551176"/>
            <a:ext cx="2240280" cy="493776"/>
          </a:xfrm>
          <a:prstGeom prst="rect">
            <a:avLst/>
          </a:prstGeom>
          <a:noFill/>
        </p:spPr>
        <p:txBody>
          <a:bodyPr wrap="square" lIns="36576" tIns="18288" rIns="36576" bIns="18288" anchor="t"/>
          <a:lstStyle/>
          <a:p>
            <a:pPr algn="l"/>
            <a:r>
              <a:rPr sz="1400" b="1">
                <a:solidFill>
                  <a:srgbClr val="EFF6FF"/>
                </a:solidFill>
                <a:latin typeface="Aptos"/>
              </a:rPr>
              <a:t>Earlier multi-stage visibility
Alert → investigation → action</a:t>
            </a:r>
          </a:p>
        </p:txBody>
      </p:sp>
      <p:sp>
        <p:nvSpPr>
          <p:cNvPr id="21" name="Rounded Rectangle 20"/>
          <p:cNvSpPr/>
          <p:nvPr/>
        </p:nvSpPr>
        <p:spPr>
          <a:xfrm>
            <a:off x="658368" y="3703320"/>
            <a:ext cx="10863072" cy="749808"/>
          </a:xfrm>
          <a:prstGeom prst="roundRect">
            <a:avLst/>
          </a:prstGeom>
          <a:solidFill>
            <a:srgbClr val="060C16"/>
          </a:solidFill>
          <a:ln w="12700">
            <a:solidFill>
              <a:srgbClr val="1E314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2" name="Rounded Rectangle 21"/>
          <p:cNvSpPr/>
          <p:nvPr/>
        </p:nvSpPr>
        <p:spPr>
          <a:xfrm>
            <a:off x="914400" y="3922776"/>
            <a:ext cx="1051560" cy="274320"/>
          </a:xfrm>
          <a:prstGeom prst="roundRect">
            <a:avLst/>
          </a:prstGeom>
          <a:solidFill>
            <a:srgbClr val="142338"/>
          </a:solidFill>
          <a:ln w="12700">
            <a:solidFill>
              <a:srgbClr val="29D3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3" name="TextBox 22"/>
          <p:cNvSpPr txBox="1"/>
          <p:nvPr/>
        </p:nvSpPr>
        <p:spPr>
          <a:xfrm>
            <a:off x="914400" y="3936491"/>
            <a:ext cx="1051560" cy="228600"/>
          </a:xfrm>
          <a:prstGeom prst="rect">
            <a:avLst/>
          </a:prstGeom>
          <a:noFill/>
        </p:spPr>
        <p:txBody>
          <a:bodyPr wrap="square" lIns="36576" tIns="18288" rIns="36576" bIns="18288" anchor="ctr"/>
          <a:lstStyle/>
          <a:p>
            <a:pPr algn="ctr"/>
            <a:r>
              <a:rPr sz="1300" b="1">
                <a:solidFill>
                  <a:srgbClr val="29D3FF"/>
                </a:solidFill>
                <a:latin typeface="Aptos Mono"/>
              </a:rPr>
              <a:t>INGEST</a:t>
            </a:r>
          </a:p>
        </p:txBody>
      </p:sp>
      <p:sp>
        <p:nvSpPr>
          <p:cNvPr id="24" name="TextBox 23"/>
          <p:cNvSpPr txBox="1"/>
          <p:nvPr/>
        </p:nvSpPr>
        <p:spPr>
          <a:xfrm>
            <a:off x="2039112" y="3941063"/>
            <a:ext cx="329184" cy="164592"/>
          </a:xfrm>
          <a:prstGeom prst="rect">
            <a:avLst/>
          </a:prstGeom>
          <a:noFill/>
        </p:spPr>
        <p:txBody>
          <a:bodyPr wrap="square" lIns="36576" tIns="18288" rIns="36576" bIns="18288" anchor="t"/>
          <a:lstStyle/>
          <a:p>
            <a:pPr algn="ctr"/>
            <a:r>
              <a:rPr sz="1300" b="1">
                <a:solidFill>
                  <a:srgbClr val="9CAEC6"/>
                </a:solidFill>
                <a:latin typeface="Aptos"/>
              </a:rPr>
              <a:t>→</a:t>
            </a:r>
          </a:p>
        </p:txBody>
      </p:sp>
      <p:sp>
        <p:nvSpPr>
          <p:cNvPr id="25" name="Rounded Rectangle 24"/>
          <p:cNvSpPr/>
          <p:nvPr/>
        </p:nvSpPr>
        <p:spPr>
          <a:xfrm>
            <a:off x="2624328" y="3922776"/>
            <a:ext cx="1051560" cy="274320"/>
          </a:xfrm>
          <a:prstGeom prst="roundRect">
            <a:avLst/>
          </a:prstGeom>
          <a:solidFill>
            <a:srgbClr val="142338"/>
          </a:solidFill>
          <a:ln w="12700">
            <a:solidFill>
              <a:srgbClr val="4984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6" name="TextBox 25"/>
          <p:cNvSpPr txBox="1"/>
          <p:nvPr/>
        </p:nvSpPr>
        <p:spPr>
          <a:xfrm>
            <a:off x="2624328" y="3936491"/>
            <a:ext cx="1051560" cy="228600"/>
          </a:xfrm>
          <a:prstGeom prst="rect">
            <a:avLst/>
          </a:prstGeom>
          <a:noFill/>
        </p:spPr>
        <p:txBody>
          <a:bodyPr wrap="square" lIns="36576" tIns="18288" rIns="36576" bIns="18288" anchor="ctr"/>
          <a:lstStyle/>
          <a:p>
            <a:pPr algn="ctr"/>
            <a:r>
              <a:rPr sz="1300" b="1">
                <a:solidFill>
                  <a:srgbClr val="4984FF"/>
                </a:solidFill>
                <a:latin typeface="Aptos Mono"/>
              </a:rPr>
              <a:t>ENRICH</a:t>
            </a:r>
          </a:p>
        </p:txBody>
      </p:sp>
      <p:sp>
        <p:nvSpPr>
          <p:cNvPr id="27" name="TextBox 26"/>
          <p:cNvSpPr txBox="1"/>
          <p:nvPr/>
        </p:nvSpPr>
        <p:spPr>
          <a:xfrm>
            <a:off x="3749039" y="3941063"/>
            <a:ext cx="329184" cy="164592"/>
          </a:xfrm>
          <a:prstGeom prst="rect">
            <a:avLst/>
          </a:prstGeom>
          <a:noFill/>
        </p:spPr>
        <p:txBody>
          <a:bodyPr wrap="square" lIns="36576" tIns="18288" rIns="36576" bIns="18288" anchor="t"/>
          <a:lstStyle/>
          <a:p>
            <a:pPr algn="ctr"/>
            <a:r>
              <a:rPr sz="1300" b="1">
                <a:solidFill>
                  <a:srgbClr val="9CAEC6"/>
                </a:solidFill>
                <a:latin typeface="Aptos"/>
              </a:rPr>
              <a:t>→</a:t>
            </a:r>
          </a:p>
        </p:txBody>
      </p:sp>
      <p:sp>
        <p:nvSpPr>
          <p:cNvPr id="28" name="Rounded Rectangle 27"/>
          <p:cNvSpPr/>
          <p:nvPr/>
        </p:nvSpPr>
        <p:spPr>
          <a:xfrm>
            <a:off x="4334256" y="3922776"/>
            <a:ext cx="1051560" cy="274320"/>
          </a:xfrm>
          <a:prstGeom prst="roundRect">
            <a:avLst/>
          </a:prstGeom>
          <a:solidFill>
            <a:srgbClr val="142338"/>
          </a:solidFill>
          <a:ln w="12700">
            <a:solidFill>
              <a:srgbClr val="FF994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9" name="TextBox 28"/>
          <p:cNvSpPr txBox="1"/>
          <p:nvPr/>
        </p:nvSpPr>
        <p:spPr>
          <a:xfrm>
            <a:off x="4334256" y="3936491"/>
            <a:ext cx="1051560" cy="228600"/>
          </a:xfrm>
          <a:prstGeom prst="rect">
            <a:avLst/>
          </a:prstGeom>
          <a:noFill/>
        </p:spPr>
        <p:txBody>
          <a:bodyPr wrap="square" lIns="36576" tIns="18288" rIns="36576" bIns="18288" anchor="ctr"/>
          <a:lstStyle/>
          <a:p>
            <a:pPr algn="ctr"/>
            <a:r>
              <a:rPr sz="1300" b="1">
                <a:solidFill>
                  <a:srgbClr val="FF9948"/>
                </a:solidFill>
                <a:latin typeface="Aptos Mono"/>
              </a:rPr>
              <a:t>SCORE</a:t>
            </a:r>
          </a:p>
        </p:txBody>
      </p:sp>
      <p:sp>
        <p:nvSpPr>
          <p:cNvPr id="30" name="TextBox 29"/>
          <p:cNvSpPr txBox="1"/>
          <p:nvPr/>
        </p:nvSpPr>
        <p:spPr>
          <a:xfrm>
            <a:off x="5458968" y="3941063"/>
            <a:ext cx="329184" cy="164592"/>
          </a:xfrm>
          <a:prstGeom prst="rect">
            <a:avLst/>
          </a:prstGeom>
          <a:noFill/>
        </p:spPr>
        <p:txBody>
          <a:bodyPr wrap="square" lIns="36576" tIns="18288" rIns="36576" bIns="18288" anchor="t"/>
          <a:lstStyle/>
          <a:p>
            <a:pPr algn="ctr"/>
            <a:r>
              <a:rPr sz="1300" b="1">
                <a:solidFill>
                  <a:srgbClr val="9CAEC6"/>
                </a:solidFill>
                <a:latin typeface="Aptos"/>
              </a:rPr>
              <a:t>→</a:t>
            </a:r>
          </a:p>
        </p:txBody>
      </p:sp>
      <p:sp>
        <p:nvSpPr>
          <p:cNvPr id="31" name="Rounded Rectangle 30"/>
          <p:cNvSpPr/>
          <p:nvPr/>
        </p:nvSpPr>
        <p:spPr>
          <a:xfrm>
            <a:off x="6044184" y="3922776"/>
            <a:ext cx="1051560" cy="274320"/>
          </a:xfrm>
          <a:prstGeom prst="roundRect">
            <a:avLst/>
          </a:prstGeom>
          <a:solidFill>
            <a:srgbClr val="142338"/>
          </a:solidFill>
          <a:ln w="12700">
            <a:solidFill>
              <a:srgbClr val="FF4A4A"/>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2" name="TextBox 31"/>
          <p:cNvSpPr txBox="1"/>
          <p:nvPr/>
        </p:nvSpPr>
        <p:spPr>
          <a:xfrm>
            <a:off x="6044184" y="3936491"/>
            <a:ext cx="1051560" cy="228600"/>
          </a:xfrm>
          <a:prstGeom prst="rect">
            <a:avLst/>
          </a:prstGeom>
          <a:noFill/>
        </p:spPr>
        <p:txBody>
          <a:bodyPr wrap="square" lIns="36576" tIns="18288" rIns="36576" bIns="18288" anchor="ctr"/>
          <a:lstStyle/>
          <a:p>
            <a:pPr algn="ctr"/>
            <a:r>
              <a:rPr sz="1300" b="1">
                <a:solidFill>
                  <a:srgbClr val="FF4A4A"/>
                </a:solidFill>
                <a:latin typeface="Aptos Mono"/>
              </a:rPr>
              <a:t>CORRELATE</a:t>
            </a:r>
          </a:p>
        </p:txBody>
      </p:sp>
      <p:sp>
        <p:nvSpPr>
          <p:cNvPr id="33" name="TextBox 32"/>
          <p:cNvSpPr txBox="1"/>
          <p:nvPr/>
        </p:nvSpPr>
        <p:spPr>
          <a:xfrm>
            <a:off x="7168896" y="3941063"/>
            <a:ext cx="329184" cy="164592"/>
          </a:xfrm>
          <a:prstGeom prst="rect">
            <a:avLst/>
          </a:prstGeom>
          <a:noFill/>
        </p:spPr>
        <p:txBody>
          <a:bodyPr wrap="square" lIns="36576" tIns="18288" rIns="36576" bIns="18288" anchor="t"/>
          <a:lstStyle/>
          <a:p>
            <a:pPr algn="ctr"/>
            <a:r>
              <a:rPr sz="1300" b="1">
                <a:solidFill>
                  <a:srgbClr val="9CAEC6"/>
                </a:solidFill>
                <a:latin typeface="Aptos"/>
              </a:rPr>
              <a:t>→</a:t>
            </a:r>
          </a:p>
        </p:txBody>
      </p:sp>
      <p:sp>
        <p:nvSpPr>
          <p:cNvPr id="34" name="Rounded Rectangle 33"/>
          <p:cNvSpPr/>
          <p:nvPr/>
        </p:nvSpPr>
        <p:spPr>
          <a:xfrm>
            <a:off x="7754112" y="3922776"/>
            <a:ext cx="1051560" cy="274320"/>
          </a:xfrm>
          <a:prstGeom prst="roundRect">
            <a:avLst/>
          </a:prstGeom>
          <a:solidFill>
            <a:srgbClr val="142338"/>
          </a:solidFill>
          <a:ln w="12700">
            <a:solidFill>
              <a:srgbClr val="29D3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5" name="TextBox 34"/>
          <p:cNvSpPr txBox="1"/>
          <p:nvPr/>
        </p:nvSpPr>
        <p:spPr>
          <a:xfrm>
            <a:off x="7754112" y="3936491"/>
            <a:ext cx="1051560" cy="228600"/>
          </a:xfrm>
          <a:prstGeom prst="rect">
            <a:avLst/>
          </a:prstGeom>
          <a:noFill/>
        </p:spPr>
        <p:txBody>
          <a:bodyPr wrap="square" lIns="36576" tIns="18288" rIns="36576" bIns="18288" anchor="ctr"/>
          <a:lstStyle/>
          <a:p>
            <a:pPr algn="ctr"/>
            <a:r>
              <a:rPr sz="1300" b="1">
                <a:solidFill>
                  <a:srgbClr val="29D3FF"/>
                </a:solidFill>
                <a:latin typeface="Aptos Mono"/>
              </a:rPr>
              <a:t>EXPLAIN</a:t>
            </a:r>
          </a:p>
        </p:txBody>
      </p:sp>
      <p:sp>
        <p:nvSpPr>
          <p:cNvPr id="36" name="TextBox 35"/>
          <p:cNvSpPr txBox="1"/>
          <p:nvPr/>
        </p:nvSpPr>
        <p:spPr>
          <a:xfrm>
            <a:off x="8878824" y="3941063"/>
            <a:ext cx="329184" cy="164592"/>
          </a:xfrm>
          <a:prstGeom prst="rect">
            <a:avLst/>
          </a:prstGeom>
          <a:noFill/>
        </p:spPr>
        <p:txBody>
          <a:bodyPr wrap="square" lIns="36576" tIns="18288" rIns="36576" bIns="18288" anchor="t"/>
          <a:lstStyle/>
          <a:p>
            <a:pPr algn="ctr"/>
            <a:r>
              <a:rPr sz="1300" b="1">
                <a:solidFill>
                  <a:srgbClr val="9CAEC6"/>
                </a:solidFill>
                <a:latin typeface="Aptos"/>
              </a:rPr>
              <a:t>→</a:t>
            </a:r>
          </a:p>
        </p:txBody>
      </p:sp>
      <p:sp>
        <p:nvSpPr>
          <p:cNvPr id="37" name="Rounded Rectangle 36"/>
          <p:cNvSpPr/>
          <p:nvPr/>
        </p:nvSpPr>
        <p:spPr>
          <a:xfrm>
            <a:off x="9464040" y="3922776"/>
            <a:ext cx="1051560" cy="274320"/>
          </a:xfrm>
          <a:prstGeom prst="roundRect">
            <a:avLst/>
          </a:prstGeom>
          <a:solidFill>
            <a:srgbClr val="142338"/>
          </a:solidFill>
          <a:ln w="12700">
            <a:solidFill>
              <a:srgbClr val="3ED38B"/>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38" name="TextBox 37"/>
          <p:cNvSpPr txBox="1"/>
          <p:nvPr/>
        </p:nvSpPr>
        <p:spPr>
          <a:xfrm>
            <a:off x="9464040" y="3936491"/>
            <a:ext cx="1051560" cy="228600"/>
          </a:xfrm>
          <a:prstGeom prst="rect">
            <a:avLst/>
          </a:prstGeom>
          <a:noFill/>
        </p:spPr>
        <p:txBody>
          <a:bodyPr wrap="square" lIns="36576" tIns="18288" rIns="36576" bIns="18288" anchor="ctr"/>
          <a:lstStyle/>
          <a:p>
            <a:pPr algn="ctr"/>
            <a:r>
              <a:rPr sz="1300" b="1">
                <a:solidFill>
                  <a:srgbClr val="3ED38B"/>
                </a:solidFill>
                <a:latin typeface="Aptos Mono"/>
              </a:rPr>
              <a:t>ACT</a:t>
            </a:r>
          </a:p>
        </p:txBody>
      </p:sp>
      <p:sp>
        <p:nvSpPr>
          <p:cNvPr id="39" name="TextBox 38"/>
          <p:cNvSpPr txBox="1"/>
          <p:nvPr/>
        </p:nvSpPr>
        <p:spPr>
          <a:xfrm>
            <a:off x="685800" y="4800600"/>
            <a:ext cx="914400" cy="182880"/>
          </a:xfrm>
          <a:prstGeom prst="rect">
            <a:avLst/>
          </a:prstGeom>
          <a:noFill/>
        </p:spPr>
        <p:txBody>
          <a:bodyPr wrap="square" lIns="36576" tIns="18288" rIns="36576" bIns="18288" anchor="t"/>
          <a:lstStyle/>
          <a:p>
            <a:pPr algn="l"/>
            <a:r>
              <a:rPr sz="1300" b="1">
                <a:solidFill>
                  <a:srgbClr val="29D3FF"/>
                </a:solidFill>
                <a:latin typeface="Aptos Mono"/>
              </a:rPr>
              <a:t>TEAM</a:t>
            </a:r>
          </a:p>
        </p:txBody>
      </p:sp>
      <p:sp>
        <p:nvSpPr>
          <p:cNvPr id="40" name="Oval 39"/>
          <p:cNvSpPr/>
          <p:nvPr/>
        </p:nvSpPr>
        <p:spPr>
          <a:xfrm>
            <a:off x="685800" y="5166360"/>
            <a:ext cx="164592" cy="164592"/>
          </a:xfrm>
          <a:prstGeom prst="ellipse">
            <a:avLst/>
          </a:prstGeom>
          <a:solidFill>
            <a:srgbClr val="29D3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1" name="TextBox 40"/>
          <p:cNvSpPr txBox="1"/>
          <p:nvPr/>
        </p:nvSpPr>
        <p:spPr>
          <a:xfrm>
            <a:off x="960120" y="5148072"/>
            <a:ext cx="2331720" cy="201168"/>
          </a:xfrm>
          <a:prstGeom prst="rect">
            <a:avLst/>
          </a:prstGeom>
          <a:noFill/>
        </p:spPr>
        <p:txBody>
          <a:bodyPr wrap="square" lIns="36576" tIns="18288" rIns="36576" bIns="18288" anchor="t"/>
          <a:lstStyle/>
          <a:p>
            <a:pPr algn="l"/>
            <a:r>
              <a:rPr sz="1400" b="1">
                <a:solidFill>
                  <a:srgbClr val="EFF6FF"/>
                </a:solidFill>
                <a:latin typeface="Aptos"/>
              </a:rPr>
              <a:t>Vishwa Bhalodiya</a:t>
            </a:r>
          </a:p>
        </p:txBody>
      </p:sp>
      <p:sp>
        <p:nvSpPr>
          <p:cNvPr id="42" name="Oval 41"/>
          <p:cNvSpPr/>
          <p:nvPr/>
        </p:nvSpPr>
        <p:spPr>
          <a:xfrm>
            <a:off x="3566160" y="5166360"/>
            <a:ext cx="164592" cy="164592"/>
          </a:xfrm>
          <a:prstGeom prst="ellipse">
            <a:avLst/>
          </a:prstGeom>
          <a:solidFill>
            <a:srgbClr val="4984FF"/>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3" name="TextBox 42"/>
          <p:cNvSpPr txBox="1"/>
          <p:nvPr/>
        </p:nvSpPr>
        <p:spPr>
          <a:xfrm>
            <a:off x="3840480" y="5148072"/>
            <a:ext cx="2331720" cy="201168"/>
          </a:xfrm>
          <a:prstGeom prst="rect">
            <a:avLst/>
          </a:prstGeom>
          <a:noFill/>
        </p:spPr>
        <p:txBody>
          <a:bodyPr wrap="square" lIns="36576" tIns="18288" rIns="36576" bIns="18288" anchor="t"/>
          <a:lstStyle/>
          <a:p>
            <a:pPr algn="l"/>
            <a:r>
              <a:rPr sz="1400" b="1">
                <a:solidFill>
                  <a:srgbClr val="EFF6FF"/>
                </a:solidFill>
                <a:latin typeface="Aptos"/>
              </a:rPr>
              <a:t>Dhruvi Bhanderi</a:t>
            </a:r>
          </a:p>
        </p:txBody>
      </p:sp>
      <p:sp>
        <p:nvSpPr>
          <p:cNvPr id="44" name="Oval 43"/>
          <p:cNvSpPr/>
          <p:nvPr/>
        </p:nvSpPr>
        <p:spPr>
          <a:xfrm>
            <a:off x="685800" y="5559552"/>
            <a:ext cx="164592" cy="164592"/>
          </a:xfrm>
          <a:prstGeom prst="ellipse">
            <a:avLst/>
          </a:prstGeom>
          <a:solidFill>
            <a:srgbClr val="FF9948"/>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5" name="TextBox 44"/>
          <p:cNvSpPr txBox="1"/>
          <p:nvPr/>
        </p:nvSpPr>
        <p:spPr>
          <a:xfrm>
            <a:off x="960120" y="5541264"/>
            <a:ext cx="2331720" cy="201168"/>
          </a:xfrm>
          <a:prstGeom prst="rect">
            <a:avLst/>
          </a:prstGeom>
          <a:noFill/>
        </p:spPr>
        <p:txBody>
          <a:bodyPr wrap="square" lIns="36576" tIns="18288" rIns="36576" bIns="18288" anchor="t"/>
          <a:lstStyle/>
          <a:p>
            <a:pPr algn="l"/>
            <a:r>
              <a:rPr sz="1400" b="1">
                <a:solidFill>
                  <a:srgbClr val="EFF6FF"/>
                </a:solidFill>
                <a:latin typeface="Aptos"/>
              </a:rPr>
              <a:t>Diya Macwan</a:t>
            </a:r>
          </a:p>
        </p:txBody>
      </p:sp>
      <p:sp>
        <p:nvSpPr>
          <p:cNvPr id="46" name="Oval 45"/>
          <p:cNvSpPr/>
          <p:nvPr/>
        </p:nvSpPr>
        <p:spPr>
          <a:xfrm>
            <a:off x="3566160" y="5559552"/>
            <a:ext cx="164592" cy="164592"/>
          </a:xfrm>
          <a:prstGeom prst="ellipse">
            <a:avLst/>
          </a:prstGeom>
          <a:solidFill>
            <a:srgbClr val="FF4A4A"/>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7" name="TextBox 46"/>
          <p:cNvSpPr txBox="1"/>
          <p:nvPr/>
        </p:nvSpPr>
        <p:spPr>
          <a:xfrm>
            <a:off x="3840480" y="5541264"/>
            <a:ext cx="2331720" cy="201168"/>
          </a:xfrm>
          <a:prstGeom prst="rect">
            <a:avLst/>
          </a:prstGeom>
          <a:noFill/>
        </p:spPr>
        <p:txBody>
          <a:bodyPr wrap="square" lIns="36576" tIns="18288" rIns="36576" bIns="18288" anchor="t"/>
          <a:lstStyle/>
          <a:p>
            <a:pPr algn="l"/>
            <a:r>
              <a:rPr sz="1400" b="1">
                <a:solidFill>
                  <a:srgbClr val="EFF6FF"/>
                </a:solidFill>
                <a:latin typeface="Aptos"/>
              </a:rPr>
              <a:t>Tanish Mahyavanshi</a:t>
            </a:r>
          </a:p>
        </p:txBody>
      </p:sp>
      <p:sp>
        <p:nvSpPr>
          <p:cNvPr id="48" name="Rounded Rectangle 47"/>
          <p:cNvSpPr/>
          <p:nvPr/>
        </p:nvSpPr>
        <p:spPr>
          <a:xfrm>
            <a:off x="6492240" y="4727448"/>
            <a:ext cx="5029200" cy="1243584"/>
          </a:xfrm>
          <a:prstGeom prst="roundRect">
            <a:avLst/>
          </a:prstGeom>
          <a:solidFill>
            <a:srgbClr val="101B2D"/>
          </a:solidFill>
          <a:ln w="12700">
            <a:solidFill>
              <a:srgbClr val="29D3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49" name="TextBox 48"/>
          <p:cNvSpPr txBox="1"/>
          <p:nvPr/>
        </p:nvSpPr>
        <p:spPr>
          <a:xfrm>
            <a:off x="6812280" y="5047488"/>
            <a:ext cx="4389120" cy="594360"/>
          </a:xfrm>
          <a:prstGeom prst="rect">
            <a:avLst/>
          </a:prstGeom>
          <a:noFill/>
        </p:spPr>
        <p:txBody>
          <a:bodyPr wrap="square" lIns="36576" tIns="18288" rIns="36576" bIns="18288" anchor="t"/>
          <a:lstStyle/>
          <a:p>
            <a:pPr algn="ctr"/>
            <a:r>
              <a:rPr sz="1400" b="1">
                <a:solidFill>
                  <a:srgbClr val="EFF6FF"/>
                </a:solidFill>
                <a:latin typeface="Aptos"/>
              </a:rPr>
              <a:t>“ThreatNexus helps analysts spend less time sorting alerts
and more time stopping threats.”</a:t>
            </a:r>
          </a:p>
        </p:txBody>
      </p:sp>
      <p:sp>
        <p:nvSpPr>
          <p:cNvPr id="50" name="TextBox 49"/>
          <p:cNvSpPr txBox="1"/>
          <p:nvPr/>
        </p:nvSpPr>
        <p:spPr>
          <a:xfrm>
            <a:off x="621792" y="6547104"/>
            <a:ext cx="6400800" cy="164592"/>
          </a:xfrm>
          <a:prstGeom prst="rect">
            <a:avLst/>
          </a:prstGeom>
          <a:noFill/>
        </p:spPr>
        <p:txBody>
          <a:bodyPr wrap="square" lIns="36576" tIns="18288" rIns="36576" bIns="18288" anchor="t"/>
          <a:lstStyle/>
          <a:p>
            <a:pPr algn="l"/>
            <a:r>
              <a:rPr sz="1300" b="1">
                <a:solidFill>
                  <a:srgbClr val="9CAEC6"/>
                </a:solidFill>
                <a:latin typeface="Aptos Mono"/>
              </a:rPr>
              <a:t>THREATNEXUS  /  AI SECURITY OPERATIONS</a:t>
            </a:r>
          </a:p>
        </p:txBody>
      </p:sp>
      <p:sp>
        <p:nvSpPr>
          <p:cNvPr id="51" name="TextBox 50"/>
          <p:cNvSpPr txBox="1"/>
          <p:nvPr/>
        </p:nvSpPr>
        <p:spPr>
          <a:xfrm>
            <a:off x="11064240" y="6510528"/>
            <a:ext cx="502920" cy="201168"/>
          </a:xfrm>
          <a:prstGeom prst="rect">
            <a:avLst/>
          </a:prstGeom>
          <a:noFill/>
        </p:spPr>
        <p:txBody>
          <a:bodyPr wrap="square" lIns="36576" tIns="18288" rIns="36576" bIns="18288" anchor="t"/>
          <a:lstStyle/>
          <a:p>
            <a:pPr algn="r"/>
            <a:r>
              <a:rPr sz="1300" b="1">
                <a:solidFill>
                  <a:srgbClr val="9CAEC6"/>
                </a:solidFill>
                <a:latin typeface="Aptos Mono"/>
              </a:rPr>
              <a:t>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1123</Words>
  <Application>Microsoft Office PowerPoint</Application>
  <PresentationFormat>Widescreen</PresentationFormat>
  <Paragraphs>256</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Mono</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Dhruvi Patel</cp:lastModifiedBy>
  <cp:revision>2</cp:revision>
  <dcterms:created xsi:type="dcterms:W3CDTF">2013-01-27T09:14:16Z</dcterms:created>
  <dcterms:modified xsi:type="dcterms:W3CDTF">2026-09-15T12:38:44Z</dcterms:modified>
  <cp:category/>
</cp:coreProperties>
</file>